
<file path=[Content_Types].xml><?xml version="1.0" encoding="utf-8"?>
<Types xmlns="http://schemas.openxmlformats.org/package/2006/content-types">
  <Default ContentType="image/jpeg" Extension="jpg"/>
  <Default ContentType="application/vnd.openxmlformats-officedocument.spreadsheetml.sheet" Extension="xlsx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2.xml"/>
  <Override ContentType="application/vnd.openxmlformats-officedocument.drawingml.chart+xml" PartName="/ppt/charts/chart1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jnSFT91pQikadMtn8s0BjzLFrCA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BD698BA-FF35-43CC-BCCB-B88347BA5E61}">
  <a:tblStyle styleId="{DBD698BA-FF35-43CC-BCCB-B88347BA5E6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charts/_rels/chart1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11214"/>
                </a:solidFill>
                <a:latin typeface="+mn-lt"/>
              </a:defRPr>
            </a:pPr>
            <a:r>
              <a:rPr lang="it-IT" sz="1300" b="0" i="0" u="none" strike="noStrike">
                <a:solidFill>
                  <a:srgbClr val="111214"/>
                </a:solidFill>
                <a:latin typeface="+mn-lt"/>
              </a:rPr>
              <a:t>Residenti per cittadinanza, 2025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Residenti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6AA84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E63-42A3-8235-E78E4715B947}"/>
              </c:ext>
            </c:extLst>
          </c:dPt>
          <c:dPt>
            <c:idx val="1"/>
            <c:bubble3D val="0"/>
            <c:spPr>
              <a:solidFill>
                <a:srgbClr val="4A4D5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E63-42A3-8235-E78E4715B947}"/>
              </c:ext>
            </c:extLst>
          </c:dPt>
          <c:dLbls>
            <c:dLbl>
              <c:idx val="0"/>
              <c:numFmt formatCode="0.0&quot;%&quot;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  <a:endParaRPr lang="it-IT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E63-42A3-8235-E78E4715B947}"/>
                </c:ext>
              </c:extLst>
            </c:dLbl>
            <c:dLbl>
              <c:idx val="1"/>
              <c:numFmt formatCode="0.0&quot;%&quot;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  <a:endParaRPr lang="it-IT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E63-42A3-8235-E78E4715B947}"/>
                </c:ext>
              </c:extLst>
            </c:dLbl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it-IT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Stranieri</c:v>
                </c:pt>
                <c:pt idx="1">
                  <c:v>Italiani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21.1</c:v>
                </c:pt>
                <c:pt idx="1">
                  <c:v>78.900000000000006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E63-42A3-8235-E78E4715B94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4A4D55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11214"/>
                </a:solidFill>
                <a:latin typeface="+mn-lt"/>
              </a:defRPr>
            </a:pPr>
            <a:r>
              <a:rPr lang="it-IT" sz="1200" b="0" i="0" u="none" strike="noStrike">
                <a:solidFill>
                  <a:srgbClr val="111214"/>
                </a:solidFill>
                <a:latin typeface="+mn-lt"/>
              </a:rPr>
              <a:t>Come valuti l'esperienza con i documenti del Comune? 14 studenti internazionali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Risposte</c:v>
                </c:pt>
              </c:strCache>
            </c:strRef>
          </c:tx>
          <c:spPr>
            <a:solidFill>
              <a:srgbClr val="B3261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BB9-4D46-AD40-AE8AE06E11F9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6BB9-4D46-AD40-AE8AE06E11F9}"/>
              </c:ext>
            </c:extLst>
          </c:dPt>
          <c:dPt>
            <c:idx val="2"/>
            <c:invertIfNegative val="0"/>
            <c:bubble3D val="0"/>
            <c:spPr>
              <a:solidFill>
                <a:srgbClr val="C6C8C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BB9-4D46-AD40-AE8AE06E11F9}"/>
              </c:ext>
            </c:extLst>
          </c:dPt>
          <c:dPt>
            <c:idx val="3"/>
            <c:invertIfNegative val="0"/>
            <c:bubble3D val="0"/>
            <c:spPr>
              <a:solidFill>
                <a:srgbClr val="6AA84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BB9-4D46-AD40-AE8AE06E11F9}"/>
              </c:ext>
            </c:extLst>
          </c:dPt>
          <c:dPt>
            <c:idx val="4"/>
            <c:invertIfNegative val="0"/>
            <c:bubble3D val="0"/>
            <c:spPr>
              <a:solidFill>
                <a:srgbClr val="6AA84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6BB9-4D46-AD40-AE8AE06E11F9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 i="0" u="none" strike="noStrike">
                    <a:solidFill>
                      <a:srgbClr val="111214"/>
                    </a:solidFill>
                    <a:latin typeface="+mn-lt"/>
                  </a:defRPr>
                </a:pPr>
                <a:endParaRPr lang="it-I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1 Molto male</c:v>
                </c:pt>
                <c:pt idx="1">
                  <c:v>2 Male</c:v>
                </c:pt>
                <c:pt idx="2">
                  <c:v>3 Normale</c:v>
                </c:pt>
                <c:pt idx="3">
                  <c:v>4 Bene</c:v>
                </c:pt>
                <c:pt idx="4">
                  <c:v>5 Molto bene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</c:v>
                </c:pt>
                <c:pt idx="1">
                  <c:v>1</c:v>
                </c:pt>
                <c:pt idx="2">
                  <c:v>2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6BB9-4D46-AD40-AE8AE06E11F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4D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" name="Google Shape;17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Aggancio (0:00–0:10)</a:t>
            </a:r>
            <a:b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«Ho dovuto prendere tre appuntamenti di quindici minuti per mettere a posto la mia residenza.» Siamo OneVisit: due italiani e tre arrivati dal mondo. Vogliamo che ne basti uno.</a:t>
            </a:r>
            <a:endParaRPr/>
          </a:p>
        </p:txBody>
      </p:sp>
      <p:sp>
        <p:nvSpPr>
          <p:cNvPr id="18" name="Google Shape;18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Situazione (0:10–0:20)</a:t>
            </a:r>
            <a:b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Milano più di un residente su cinque è straniero. Solo nel 2024, quasi ventimila persone si sono iscritte all'anagrafe arrivando dall'estero.</a:t>
            </a:r>
            <a:endParaRPr/>
          </a:p>
        </p:txBody>
      </p:sp>
      <p:sp>
        <p:nvSpPr>
          <p:cNvPr id="31" name="Google Shape;31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" name="Google Shape;46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Problema (0:20–0:39)</a:t>
            </a:r>
            <a:b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Abbiamo chiesto a quattordici studenti stranieri com'è ottenere un documento dal Comune. Dodici su quattordici: negativo. Nessuno positivo. Anche il sondaggio del Comune, nel 2022: il servizio online di residenza ha aiutato poco o niente il quarantadue per cento degli stranieri che hanno risposto.</a:t>
            </a:r>
            <a:endParaRPr/>
          </a:p>
        </p:txBody>
      </p:sp>
      <p:sp>
        <p:nvSpPr>
          <p:cNvPr id="47" name="Google Shape;47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7" name="Google Shape;67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Implicazione (0:39–0:54)</a:t>
            </a:r>
            <a:b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Tre visite invece di una: due slot sprecati. Anche solo per quattromilacinquecento persone, fino a novemila appuntamenti l'anno tolti ad altri cittadini. E i sondaggi dicono quanto non funziona, non quale pagina ha causato l'errore.</a:t>
            </a:r>
            <a:b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[pausa di 2 secondi]</a:t>
            </a:r>
            <a:endParaRPr/>
          </a:p>
        </p:txBody>
      </p:sp>
      <p:sp>
        <p:nvSpPr>
          <p:cNvPr id="68" name="Google Shape;68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0" name="Google Shape;100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Valore per il cittadino (0:54–1:10)</a:t>
            </a:r>
            <a:b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OneVisit in tre passi. Capire: il cittadino scrive nella sua lingua e Claude gli dice cosa portare, solo con requisiti verificati sulle fonti ufficiali. Prepararsi: riceve un SMS o un'email con il link alla sua lista. Arrivare pronti: allo sportello con quello che serve.</a:t>
            </a:r>
            <a:endParaRPr/>
          </a:p>
        </p:txBody>
      </p:sp>
      <p:sp>
        <p:nvSpPr>
          <p:cNvPr id="101" name="Google Shape;101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7" name="Google Shape;127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Dove ci differenziamo (1:10–1:27)</a:t>
            </a:r>
            <a:b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Perché non una semplice chat? Una chat risponde a memoria: se sbaglia, nessuno lo sa. OneVisit cita la fonte di ogni requisito, e se non sa, lo dice. Non dice mai «sei in regola»: decide l'operatore. E una chat finisce lì. OneVisit, dopo l'appuntamento, chiede com'è andata.</a:t>
            </a:r>
            <a:endParaRPr/>
          </a:p>
        </p:txBody>
      </p:sp>
      <p:sp>
        <p:nvSpPr>
          <p:cNvPr id="128" name="Google Shape;128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6" name="Google Shape;136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Valore per il Comune: i KPI (1:27–1:46)</a:t>
            </a:r>
            <a:b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Claude raggruppa gli esiti negativi per causa, senza dati personali, e scrive la bozza di correzione: la redazione la approva. La direzione vede quante pratiche si chiudono al primo appuntamento e se ogni correzione ha funzionato. Obiettivo: fino a novemila slot liberati l'anno.</a:t>
            </a:r>
            <a:endParaRPr/>
          </a:p>
        </p:txBody>
      </p:sp>
      <p:sp>
        <p:nvSpPr>
          <p:cNvPr id="137" name="Google Shape;137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9" name="Google Shape;169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Chiusura (1:46–2:00)</a:t>
            </a:r>
            <a:b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[pausa di 2 secondi]</a:t>
            </a:r>
            <a:b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 appuntamento andato male non è un fallimento: è un dato. Una visita, una pratica chiusa: OneVisit.</a:t>
            </a:r>
            <a:endParaRPr/>
          </a:p>
        </p:txBody>
      </p:sp>
      <p:sp>
        <p:nvSpPr>
          <p:cNvPr id="170" name="Google Shape;170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ARK">
  <p:cSld name="DARK">
    <p:bg>
      <p:bgPr>
        <a:solidFill>
          <a:schemeClr val="dk1"/>
        </a:solidFill>
      </p:bgPr>
    </p:bg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0"/>
          <p:cNvSpPr txBox="1"/>
          <p:nvPr>
            <p:ph idx="1" type="body"/>
          </p:nvPr>
        </p:nvSpPr>
        <p:spPr>
          <a:xfrm>
            <a:off x="548640" y="457200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4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">
  <p:cSld name="CONTENT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/>
          <p:nvPr>
            <p:ph idx="1" type="body"/>
          </p:nvPr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2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1"/>
          <p:cNvSpPr txBox="1"/>
          <p:nvPr>
            <p:ph type="title"/>
          </p:nvPr>
        </p:nvSpPr>
        <p:spPr>
          <a:xfrm>
            <a:off x="548640" y="566928"/>
            <a:ext cx="8046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b="1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2" name="Google Shape;12;p11"/>
          <p:cNvSpPr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Arial"/>
              <a:buNone/>
            </a:pPr>
            <a:r>
              <a:rPr lang="en-US" sz="9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OneVisit · Claude Impact Lab Milano · 3 ottobre 2026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1"/>
          <p:cNvSpPr txBox="1"/>
          <p:nvPr>
            <p:ph idx="12" type="sldNum"/>
          </p:nvPr>
        </p:nvSpPr>
        <p:spPr>
          <a:xfrm>
            <a:off x="8229600" y="4773168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sz="9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sz="9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sz="9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sz="9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sz="9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sz="9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sz="9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sz="9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sz="9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idx="12" type="sldNum"/>
          </p:nvPr>
        </p:nvSpPr>
        <p:spPr>
          <a:xfrm>
            <a:off x="8229600" y="4773168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"/>
          <p:cNvSpPr txBox="1"/>
          <p:nvPr>
            <p:ph idx="1" type="body"/>
          </p:nvPr>
        </p:nvSpPr>
        <p:spPr>
          <a:xfrm>
            <a:off x="548640" y="457200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</a:pPr>
            <a:r>
              <a:rPr b="1" lang="en-US" sz="1200">
                <a:solidFill>
                  <a:schemeClr val="accent4"/>
                </a:solidFill>
              </a:rPr>
              <a:t>CLAUDE IMPACT LAB MILANO · 3 OTTOBRE 2026</a:t>
            </a:r>
            <a:endParaRPr sz="1200"/>
          </a:p>
        </p:txBody>
      </p:sp>
      <p:sp>
        <p:nvSpPr>
          <p:cNvPr id="21" name="Google Shape;21;p1"/>
          <p:cNvSpPr txBox="1"/>
          <p:nvPr/>
        </p:nvSpPr>
        <p:spPr>
          <a:xfrm>
            <a:off x="548640" y="914400"/>
            <a:ext cx="39319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OneVisit</a:t>
            </a:r>
            <a:endParaRPr b="0" i="0" sz="5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1"/>
          <p:cNvSpPr txBox="1"/>
          <p:nvPr/>
        </p:nvSpPr>
        <p:spPr>
          <a:xfrm>
            <a:off x="548640" y="1783080"/>
            <a:ext cx="39319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Una visita, una pratica chiusa.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1"/>
          <p:cNvSpPr txBox="1"/>
          <p:nvPr/>
        </p:nvSpPr>
        <p:spPr>
          <a:xfrm>
            <a:off x="548640" y="2697480"/>
            <a:ext cx="3840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None/>
            </a:pPr>
            <a:r>
              <a:rPr b="0" i="1" lang="en-US" sz="1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«Ho dovuto prendere 3 appuntamenti di 15 minuti per mettere a posto la mia residenza.»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1"/>
          <p:cNvSpPr txBox="1"/>
          <p:nvPr/>
        </p:nvSpPr>
        <p:spPr>
          <a:xfrm>
            <a:off x="548640" y="3611880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Una testimonianza raccolta dal team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l team OneVisit in videochiamata: due persone dall'Italia e tre dal resto del mondo" id="25" name="Google Shape;2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54880" y="868680"/>
            <a:ext cx="3840480" cy="216027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1"/>
          <p:cNvSpPr txBox="1"/>
          <p:nvPr/>
        </p:nvSpPr>
        <p:spPr>
          <a:xfrm>
            <a:off x="4754880" y="3154680"/>
            <a:ext cx="38404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Rosario Barbagallo · Leonardo Silvani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Mohammad Nouri Zadeh · Marcelo Kaihara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Eug</a:t>
            </a:r>
            <a:r>
              <a:rPr lang="en-US" sz="1200">
                <a:solidFill>
                  <a:schemeClr val="lt1"/>
                </a:solidFill>
              </a:rPr>
              <a:t>è</a:t>
            </a:r>
            <a:r>
              <a:rPr b="0" i="0" lang="en-US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ne Wirtz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"/>
          <p:cNvSpPr txBox="1"/>
          <p:nvPr/>
        </p:nvSpPr>
        <p:spPr>
          <a:xfrm>
            <a:off x="548640" y="43434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Gira su Claude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"/>
          <p:cNvSpPr txBox="1"/>
          <p:nvPr>
            <p:ph idx="1" type="body"/>
          </p:nvPr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None/>
            </a:pPr>
            <a:r>
              <a:rPr b="1" lang="en-US" sz="1100">
                <a:solidFill>
                  <a:schemeClr val="accent5"/>
                </a:solidFill>
              </a:rPr>
              <a:t>S · SITUAZIONE</a:t>
            </a:r>
            <a:endParaRPr sz="1100"/>
          </a:p>
        </p:txBody>
      </p:sp>
      <p:sp>
        <p:nvSpPr>
          <p:cNvPr id="34" name="Google Shape;34;p2"/>
          <p:cNvSpPr txBox="1"/>
          <p:nvPr>
            <p:ph type="title"/>
          </p:nvPr>
        </p:nvSpPr>
        <p:spPr>
          <a:xfrm>
            <a:off x="548640" y="566928"/>
            <a:ext cx="8046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b="1" lang="en-US" sz="3000">
                <a:solidFill>
                  <a:schemeClr val="dk1"/>
                </a:solidFill>
              </a:rPr>
              <a:t>Un residente su cinque è straniero</a:t>
            </a:r>
            <a:endParaRPr sz="3000"/>
          </a:p>
        </p:txBody>
      </p:sp>
      <p:sp>
        <p:nvSpPr>
          <p:cNvPr id="35" name="Google Shape;35;p2"/>
          <p:cNvSpPr txBox="1"/>
          <p:nvPr/>
        </p:nvSpPr>
        <p:spPr>
          <a:xfrm>
            <a:off x="548640" y="1371600"/>
            <a:ext cx="4023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1" lang="en-US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1,39 milioni</a:t>
            </a:r>
            <a:endParaRPr sz="3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2"/>
          <p:cNvSpPr txBox="1"/>
          <p:nvPr/>
        </p:nvSpPr>
        <p:spPr>
          <a:xfrm>
            <a:off x="548640" y="1920240"/>
            <a:ext cx="4023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None/>
            </a:pPr>
            <a:r>
              <a:rPr lang="en-US" sz="15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residenti a Milano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"/>
          <p:cNvSpPr txBox="1"/>
          <p:nvPr/>
        </p:nvSpPr>
        <p:spPr>
          <a:xfrm>
            <a:off x="548640" y="2359152"/>
            <a:ext cx="4023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1" lang="en-US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295.805</a:t>
            </a:r>
            <a:endParaRPr sz="3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2"/>
          <p:cNvSpPr txBox="1"/>
          <p:nvPr/>
        </p:nvSpPr>
        <p:spPr>
          <a:xfrm>
            <a:off x="548640" y="2907792"/>
            <a:ext cx="4023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None/>
            </a:pPr>
            <a:r>
              <a:rPr lang="en-US" sz="15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residenti stranieri, il 21,1%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"/>
          <p:cNvSpPr txBox="1"/>
          <p:nvPr/>
        </p:nvSpPr>
        <p:spPr>
          <a:xfrm>
            <a:off x="548640" y="3346704"/>
            <a:ext cx="4023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</a:pPr>
            <a:r>
              <a:rPr b="1" lang="en-US" sz="36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19.755</a:t>
            </a:r>
            <a:endParaRPr sz="3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2"/>
          <p:cNvSpPr txBox="1"/>
          <p:nvPr/>
        </p:nvSpPr>
        <p:spPr>
          <a:xfrm>
            <a:off x="548640" y="3895344"/>
            <a:ext cx="4023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None/>
            </a:pPr>
            <a:r>
              <a:rPr lang="en-US" sz="15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nuovi iscritti dall'estero nel 2024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1" name="Google Shape;41;p2"/>
          <p:cNvGraphicFramePr/>
          <p:nvPr/>
        </p:nvGraphicFramePr>
        <p:xfrm>
          <a:off x="4846320" y="1280160"/>
          <a:ext cx="3749040" cy="310896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42" name="Google Shape;42;p2"/>
          <p:cNvSpPr txBox="1"/>
          <p:nvPr/>
        </p:nvSpPr>
        <p:spPr>
          <a:xfrm>
            <a:off x="548640" y="4462272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Arial"/>
              <a:buNone/>
            </a:pPr>
            <a:r>
              <a:rPr lang="en-US" sz="9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Fonti: Portale Dati del Comune di Milano, «La popolazione a Milano nel 2025»; dataset ds1959, iscrizioni per luogo di provenienza (2024, qualsiasi cittadinanza).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2"/>
          <p:cNvSpPr txBox="1"/>
          <p:nvPr>
            <p:ph idx="4294967295" type="sldNum"/>
          </p:nvPr>
        </p:nvSpPr>
        <p:spPr>
          <a:xfrm>
            <a:off x="8229600" y="4773168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9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"/>
          <p:cNvSpPr txBox="1"/>
          <p:nvPr>
            <p:ph idx="1" type="body"/>
          </p:nvPr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None/>
            </a:pPr>
            <a:r>
              <a:rPr b="1" lang="en-US" sz="1100">
                <a:solidFill>
                  <a:schemeClr val="accent5"/>
                </a:solidFill>
              </a:rPr>
              <a:t>P · PROBLEMA</a:t>
            </a:r>
            <a:endParaRPr sz="1100"/>
          </a:p>
        </p:txBody>
      </p:sp>
      <p:sp>
        <p:nvSpPr>
          <p:cNvPr id="50" name="Google Shape;50;p3"/>
          <p:cNvSpPr txBox="1"/>
          <p:nvPr>
            <p:ph type="title"/>
          </p:nvPr>
        </p:nvSpPr>
        <p:spPr>
          <a:xfrm>
            <a:off x="548640" y="566928"/>
            <a:ext cx="8046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b="1" lang="en-US" sz="3000">
                <a:solidFill>
                  <a:schemeClr val="dk1"/>
                </a:solidFill>
              </a:rPr>
              <a:t>12 su 14 bocciano l'esperienza</a:t>
            </a:r>
            <a:endParaRPr sz="3000"/>
          </a:p>
        </p:txBody>
      </p:sp>
      <p:graphicFrame>
        <p:nvGraphicFramePr>
          <p:cNvPr id="51" name="Google Shape;51;p3"/>
          <p:cNvGraphicFramePr/>
          <p:nvPr/>
        </p:nvGraphicFramePr>
        <p:xfrm>
          <a:off x="548640" y="1325880"/>
          <a:ext cx="4480560" cy="306324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52" name="Google Shape;52;p3"/>
          <p:cNvSpPr txBox="1"/>
          <p:nvPr/>
        </p:nvSpPr>
        <p:spPr>
          <a:xfrm>
            <a:off x="5394960" y="1325880"/>
            <a:ext cx="21945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800"/>
              <a:buFont typeface="Arial"/>
              <a:buNone/>
            </a:pPr>
            <a:r>
              <a:rPr b="1" lang="en-US" sz="38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12 su 14</a:t>
            </a:r>
            <a:endParaRPr sz="3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3"/>
          <p:cNvSpPr txBox="1"/>
          <p:nvPr/>
        </p:nvSpPr>
        <p:spPr>
          <a:xfrm>
            <a:off x="5394960" y="201168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r>
              <a:rPr lang="en-US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giudizio negativo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3"/>
          <p:cNvSpPr txBox="1"/>
          <p:nvPr/>
        </p:nvSpPr>
        <p:spPr>
          <a:xfrm>
            <a:off x="7772400" y="1325880"/>
            <a:ext cx="8229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None/>
            </a:pPr>
            <a:r>
              <a:rPr b="1" lang="en-US" sz="3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3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3"/>
          <p:cNvSpPr txBox="1"/>
          <p:nvPr/>
        </p:nvSpPr>
        <p:spPr>
          <a:xfrm>
            <a:off x="7772400" y="201168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r>
              <a:rPr lang="en-US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positivi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3"/>
          <p:cNvSpPr txBox="1"/>
          <p:nvPr/>
        </p:nvSpPr>
        <p:spPr>
          <a:xfrm>
            <a:off x="5394960" y="2514600"/>
            <a:ext cx="3200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Sondaggio del Comune, 2022: il servizio online di residenza ha aiutato poco o per niente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3"/>
          <p:cNvSpPr txBox="1"/>
          <p:nvPr/>
        </p:nvSpPr>
        <p:spPr>
          <a:xfrm>
            <a:off x="5394960" y="3246120"/>
            <a:ext cx="822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r>
              <a:rPr lang="en-US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Stranieri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6263640" y="3300984"/>
            <a:ext cx="1462857" cy="237744"/>
          </a:xfrm>
          <a:prstGeom prst="rect">
            <a:avLst/>
          </a:prstGeom>
          <a:solidFill>
            <a:schemeClr val="accent3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"/>
          <p:cNvSpPr txBox="1"/>
          <p:nvPr/>
        </p:nvSpPr>
        <p:spPr>
          <a:xfrm>
            <a:off x="7772217" y="3246120"/>
            <a:ext cx="640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42,1%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3"/>
          <p:cNvSpPr txBox="1"/>
          <p:nvPr/>
        </p:nvSpPr>
        <p:spPr>
          <a:xfrm>
            <a:off x="5394960" y="3703320"/>
            <a:ext cx="822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r>
              <a:rPr lang="en-US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Italiani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6263640" y="3758184"/>
            <a:ext cx="979871" cy="237744"/>
          </a:xfrm>
          <a:prstGeom prst="rect">
            <a:avLst/>
          </a:prstGeom>
          <a:solidFill>
            <a:schemeClr val="accent5"/>
          </a:solidFill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"/>
          <p:cNvSpPr txBox="1"/>
          <p:nvPr/>
        </p:nvSpPr>
        <p:spPr>
          <a:xfrm>
            <a:off x="7289231" y="3703320"/>
            <a:ext cx="640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28,2%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3"/>
          <p:cNvSpPr txBox="1"/>
          <p:nvPr/>
        </p:nvSpPr>
        <p:spPr>
          <a:xfrm>
            <a:off x="548640" y="4462272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Arial"/>
              <a:buNone/>
            </a:pPr>
            <a:r>
              <a:rPr lang="en-US" sz="9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Sondaggio del team: 14 risposte, campione piccolo e non rappresentativo. Comune di Milano, dataset ds1702 (2022): 10.194 risposte, 1.612 stranieri e 8.582 italiani.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3"/>
          <p:cNvSpPr txBox="1"/>
          <p:nvPr>
            <p:ph idx="4294967295" type="sldNum"/>
          </p:nvPr>
        </p:nvSpPr>
        <p:spPr>
          <a:xfrm>
            <a:off x="8229600" y="4773168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9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"/>
          <p:cNvSpPr txBox="1"/>
          <p:nvPr>
            <p:ph idx="1" type="body"/>
          </p:nvPr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None/>
            </a:pPr>
            <a:r>
              <a:rPr b="1" lang="en-US" sz="1100">
                <a:solidFill>
                  <a:schemeClr val="accent5"/>
                </a:solidFill>
              </a:rPr>
              <a:t>I · IMPLICAZIONE</a:t>
            </a:r>
            <a:endParaRPr sz="1100"/>
          </a:p>
        </p:txBody>
      </p:sp>
      <p:sp>
        <p:nvSpPr>
          <p:cNvPr id="71" name="Google Shape;71;p4"/>
          <p:cNvSpPr txBox="1"/>
          <p:nvPr>
            <p:ph type="title"/>
          </p:nvPr>
        </p:nvSpPr>
        <p:spPr>
          <a:xfrm>
            <a:off x="548640" y="566928"/>
            <a:ext cx="8046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b="1" lang="en-US" sz="3000">
                <a:solidFill>
                  <a:schemeClr val="dk1"/>
                </a:solidFill>
              </a:rPr>
              <a:t>Ogni visita ripetuta costa a tutti</a:t>
            </a:r>
            <a:endParaRPr sz="3000"/>
          </a:p>
        </p:txBody>
      </p:sp>
      <p:sp>
        <p:nvSpPr>
          <p:cNvPr id="72" name="Google Shape;72;p4"/>
          <p:cNvSpPr txBox="1"/>
          <p:nvPr/>
        </p:nvSpPr>
        <p:spPr>
          <a:xfrm>
            <a:off x="548640" y="1298448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Tre visite invece di una: due slot sprecati per ogni persona.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548640" y="2286000"/>
            <a:ext cx="2011680" cy="868680"/>
          </a:xfrm>
          <a:prstGeom prst="roundRect">
            <a:avLst>
              <a:gd fmla="val 10526" name="adj"/>
            </a:avLst>
          </a:prstGeom>
          <a:solidFill>
            <a:schemeClr val="lt1"/>
          </a:solidFill>
          <a:ln cap="flat" cmpd="sng" w="127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4"/>
          <p:cNvSpPr txBox="1"/>
          <p:nvPr/>
        </p:nvSpPr>
        <p:spPr>
          <a:xfrm>
            <a:off x="548640" y="2313432"/>
            <a:ext cx="20116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4.500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4"/>
          <p:cNvSpPr txBox="1"/>
          <p:nvPr/>
        </p:nvSpPr>
        <p:spPr>
          <a:xfrm>
            <a:off x="640080" y="2724912"/>
            <a:ext cx="18288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</a:pPr>
            <a:r>
              <a:rPr lang="en-US" sz="12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nuovi residenti l'anno, stima prudente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4"/>
          <p:cNvSpPr txBox="1"/>
          <p:nvPr/>
        </p:nvSpPr>
        <p:spPr>
          <a:xfrm>
            <a:off x="2651760" y="2286000"/>
            <a:ext cx="3200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Font typeface="Arial"/>
              <a:buNone/>
            </a:pPr>
            <a:r>
              <a:rPr b="1" lang="en-US" sz="26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×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3063240" y="2286000"/>
            <a:ext cx="2011680" cy="868680"/>
          </a:xfrm>
          <a:prstGeom prst="roundRect">
            <a:avLst>
              <a:gd fmla="val 10526" name="adj"/>
            </a:avLst>
          </a:prstGeom>
          <a:solidFill>
            <a:schemeClr val="lt1"/>
          </a:solidFill>
          <a:ln cap="flat" cmpd="sng" w="127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4"/>
          <p:cNvSpPr txBox="1"/>
          <p:nvPr/>
        </p:nvSpPr>
        <p:spPr>
          <a:xfrm>
            <a:off x="3063240" y="2313432"/>
            <a:ext cx="20116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4"/>
          <p:cNvSpPr txBox="1"/>
          <p:nvPr/>
        </p:nvSpPr>
        <p:spPr>
          <a:xfrm>
            <a:off x="3154680" y="2724912"/>
            <a:ext cx="18288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</a:pPr>
            <a:r>
              <a:rPr lang="en-US" sz="12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visite in più a testa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4"/>
          <p:cNvSpPr txBox="1"/>
          <p:nvPr/>
        </p:nvSpPr>
        <p:spPr>
          <a:xfrm>
            <a:off x="5166360" y="2286000"/>
            <a:ext cx="3200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Font typeface="Arial"/>
              <a:buNone/>
            </a:pPr>
            <a:r>
              <a:rPr b="1" lang="en-US" sz="26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5577840" y="2286000"/>
            <a:ext cx="3017520" cy="868680"/>
          </a:xfrm>
          <a:prstGeom prst="roundRect">
            <a:avLst>
              <a:gd fmla="val 10526" name="adj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4"/>
          <p:cNvSpPr txBox="1"/>
          <p:nvPr/>
        </p:nvSpPr>
        <p:spPr>
          <a:xfrm>
            <a:off x="5577840" y="2313432"/>
            <a:ext cx="30175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b="1" lang="en-US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fino a 9.000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4"/>
          <p:cNvSpPr txBox="1"/>
          <p:nvPr/>
        </p:nvSpPr>
        <p:spPr>
          <a:xfrm>
            <a:off x="5577840" y="2724912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/>
              <a:buNone/>
            </a:pPr>
            <a:r>
              <a:rPr lang="en-US" sz="12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appuntamenti sprecati ogni anno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548640" y="3474720"/>
            <a:ext cx="310896" cy="310896"/>
          </a:xfrm>
          <a:prstGeom prst="ellipse">
            <a:avLst/>
          </a:prstGeom>
          <a:solidFill>
            <a:schemeClr val="accent3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4"/>
          <p:cNvSpPr txBox="1"/>
          <p:nvPr/>
        </p:nvSpPr>
        <p:spPr>
          <a:xfrm>
            <a:off x="548640" y="3474720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b="1" lang="en-US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!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4"/>
          <p:cNvSpPr txBox="1"/>
          <p:nvPr/>
        </p:nvSpPr>
        <p:spPr>
          <a:xfrm>
            <a:off x="960120" y="3447288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Il cittadino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4"/>
          <p:cNvSpPr txBox="1"/>
          <p:nvPr/>
        </p:nvSpPr>
        <p:spPr>
          <a:xfrm>
            <a:off x="960120" y="3721608"/>
            <a:ext cx="21945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r>
              <a:rPr lang="en-US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perde ore di lavoro o di studio, mentre la scadenza si avvicina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3291840" y="3474720"/>
            <a:ext cx="310896" cy="310896"/>
          </a:xfrm>
          <a:prstGeom prst="ellipse">
            <a:avLst/>
          </a:prstGeom>
          <a:solidFill>
            <a:schemeClr val="accent3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4"/>
          <p:cNvSpPr txBox="1"/>
          <p:nvPr/>
        </p:nvSpPr>
        <p:spPr>
          <a:xfrm>
            <a:off x="3291840" y="3474720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b="1" lang="en-US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!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4"/>
          <p:cNvSpPr txBox="1"/>
          <p:nvPr/>
        </p:nvSpPr>
        <p:spPr>
          <a:xfrm>
            <a:off x="3703320" y="3447288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 sportello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4"/>
          <p:cNvSpPr txBox="1"/>
          <p:nvPr/>
        </p:nvSpPr>
        <p:spPr>
          <a:xfrm>
            <a:off x="3703320" y="3721608"/>
            <a:ext cx="21945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r>
              <a:rPr lang="en-US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ogni visita ripetuta toglie uno slot a un altro cittadino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6035040" y="3474720"/>
            <a:ext cx="310896" cy="310896"/>
          </a:xfrm>
          <a:prstGeom prst="ellipse">
            <a:avLst/>
          </a:prstGeom>
          <a:solidFill>
            <a:schemeClr val="accent3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4"/>
          <p:cNvSpPr txBox="1"/>
          <p:nvPr/>
        </p:nvSpPr>
        <p:spPr>
          <a:xfrm>
            <a:off x="6035040" y="3474720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b="1" lang="en-US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!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4"/>
          <p:cNvSpPr txBox="1"/>
          <p:nvPr/>
        </p:nvSpPr>
        <p:spPr>
          <a:xfrm>
            <a:off x="6446520" y="3447288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Il Comune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4"/>
          <p:cNvSpPr txBox="1"/>
          <p:nvPr/>
        </p:nvSpPr>
        <p:spPr>
          <a:xfrm>
            <a:off x="6446520" y="3721608"/>
            <a:ext cx="21945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r>
              <a:rPr lang="en-US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 sondaggi dicono quanto non funziona, non quale pagina causa l'errore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4"/>
          <p:cNvSpPr txBox="1"/>
          <p:nvPr/>
        </p:nvSpPr>
        <p:spPr>
          <a:xfrm>
            <a:off x="548640" y="4462272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Arial"/>
              <a:buNone/>
            </a:pPr>
            <a:r>
              <a:rPr lang="en-US" sz="9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Ipotesi della testimonianza: tre visite invece di una. 9.000 × 15 minuti = 2.250 ore di sportello, circa 281 giornate. Base: 295.805 stranieri × 1,6% ≈ 4.733, per difetto.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4"/>
          <p:cNvSpPr txBox="1"/>
          <p:nvPr>
            <p:ph idx="4294967295" type="sldNum"/>
          </p:nvPr>
        </p:nvSpPr>
        <p:spPr>
          <a:xfrm>
            <a:off x="8229600" y="4773168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9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"/>
          <p:cNvSpPr txBox="1"/>
          <p:nvPr>
            <p:ph idx="1" type="body"/>
          </p:nvPr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None/>
            </a:pPr>
            <a:r>
              <a:rPr b="1" lang="en-US" sz="1100">
                <a:solidFill>
                  <a:schemeClr val="accent5"/>
                </a:solidFill>
              </a:rPr>
              <a:t>N · IL VALORE PER IL CITTADINO</a:t>
            </a:r>
            <a:endParaRPr sz="1100"/>
          </a:p>
        </p:txBody>
      </p:sp>
      <p:sp>
        <p:nvSpPr>
          <p:cNvPr id="104" name="Google Shape;104;p5"/>
          <p:cNvSpPr txBox="1"/>
          <p:nvPr>
            <p:ph type="title"/>
          </p:nvPr>
        </p:nvSpPr>
        <p:spPr>
          <a:xfrm>
            <a:off x="548640" y="566928"/>
            <a:ext cx="8046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b="1" lang="en-US" sz="3000">
                <a:solidFill>
                  <a:schemeClr val="dk1"/>
                </a:solidFill>
              </a:rPr>
              <a:t>Capire, prepararsi, arrivare pronti</a:t>
            </a:r>
            <a:endParaRPr sz="3000"/>
          </a:p>
        </p:txBody>
      </p:sp>
      <p:sp>
        <p:nvSpPr>
          <p:cNvPr id="105" name="Google Shape;105;p5"/>
          <p:cNvSpPr/>
          <p:nvPr/>
        </p:nvSpPr>
        <p:spPr>
          <a:xfrm>
            <a:off x="548640" y="1325880"/>
            <a:ext cx="310896" cy="310896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"/>
          <p:cNvSpPr txBox="1"/>
          <p:nvPr/>
        </p:nvSpPr>
        <p:spPr>
          <a:xfrm>
            <a:off x="548640" y="1325880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b="1" lang="en-US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5"/>
          <p:cNvSpPr txBox="1"/>
          <p:nvPr/>
        </p:nvSpPr>
        <p:spPr>
          <a:xfrm>
            <a:off x="960120" y="1325880"/>
            <a:ext cx="21031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Capire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5"/>
          <p:cNvSpPr txBox="1"/>
          <p:nvPr/>
        </p:nvSpPr>
        <p:spPr>
          <a:xfrm>
            <a:off x="548640" y="1719072"/>
            <a:ext cx="2514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</a:pPr>
            <a:r>
              <a:rPr lang="en-US" sz="12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Scrive nella sua lingua. Solo requisiti verificati sulle fonti ufficiali; se non lo sono, lo dice.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502920" y="2313432"/>
            <a:ext cx="1006442" cy="1874520"/>
          </a:xfrm>
          <a:prstGeom prst="roundRect">
            <a:avLst>
              <a:gd fmla="val 7268" name="adj"/>
            </a:avLst>
          </a:prstGeom>
          <a:solidFill>
            <a:schemeClr val="lt1"/>
          </a:solidFill>
          <a:ln cap="flat" cmpd="sng" w="127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Schermata reale di OneVisit: Capire" id="110" name="Google Shape;11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2359152"/>
            <a:ext cx="915002" cy="178308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5"/>
          <p:cNvSpPr/>
          <p:nvPr/>
        </p:nvSpPr>
        <p:spPr>
          <a:xfrm>
            <a:off x="3291840" y="1325880"/>
            <a:ext cx="310896" cy="310896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"/>
          <p:cNvSpPr txBox="1"/>
          <p:nvPr/>
        </p:nvSpPr>
        <p:spPr>
          <a:xfrm>
            <a:off x="3291840" y="1325880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b="1" lang="en-US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5"/>
          <p:cNvSpPr txBox="1"/>
          <p:nvPr/>
        </p:nvSpPr>
        <p:spPr>
          <a:xfrm>
            <a:off x="3703320" y="1325880"/>
            <a:ext cx="21031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Prepararsi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5"/>
          <p:cNvSpPr txBox="1"/>
          <p:nvPr/>
        </p:nvSpPr>
        <p:spPr>
          <a:xfrm>
            <a:off x="3291840" y="1719072"/>
            <a:ext cx="2514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</a:pPr>
            <a:r>
              <a:rPr lang="en-US" sz="12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Se lo vuole, SMS o email prima dell'appuntamento: solo giorni mancanti e link personale.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3246120" y="2313432"/>
            <a:ext cx="1006386" cy="1874520"/>
          </a:xfrm>
          <a:prstGeom prst="roundRect">
            <a:avLst>
              <a:gd fmla="val 7269" name="adj"/>
            </a:avLst>
          </a:prstGeom>
          <a:solidFill>
            <a:schemeClr val="lt1"/>
          </a:solidFill>
          <a:ln cap="flat" cmpd="sng" w="127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Schermata reale di OneVisit: Prepararsi" id="116" name="Google Shape;116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91840" y="2359152"/>
            <a:ext cx="914946" cy="178308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/>
          <p:nvPr/>
        </p:nvSpPr>
        <p:spPr>
          <a:xfrm>
            <a:off x="6035040" y="1325880"/>
            <a:ext cx="310896" cy="310896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"/>
          <p:cNvSpPr txBox="1"/>
          <p:nvPr/>
        </p:nvSpPr>
        <p:spPr>
          <a:xfrm>
            <a:off x="6035040" y="1325880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b="1" lang="en-US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5"/>
          <p:cNvSpPr txBox="1"/>
          <p:nvPr/>
        </p:nvSpPr>
        <p:spPr>
          <a:xfrm>
            <a:off x="6446520" y="1325880"/>
            <a:ext cx="21031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Arrivare pronti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5"/>
          <p:cNvSpPr txBox="1"/>
          <p:nvPr/>
        </p:nvSpPr>
        <p:spPr>
          <a:xfrm>
            <a:off x="6035040" y="1719072"/>
            <a:ext cx="2514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</a:pPr>
            <a:r>
              <a:rPr lang="en-US" sz="12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La sua checklist: nome ufficiale in italiano e fonte sotto ogni documento.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5989320" y="2313432"/>
            <a:ext cx="1379220" cy="1874520"/>
          </a:xfrm>
          <a:prstGeom prst="roundRect">
            <a:avLst>
              <a:gd fmla="val 5304" name="adj"/>
            </a:avLst>
          </a:prstGeom>
          <a:solidFill>
            <a:schemeClr val="lt1"/>
          </a:solidFill>
          <a:ln cap="flat" cmpd="sng" w="127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Schermata reale di OneVisit: Arrivare pronti" id="122" name="Google Shape;122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35040" y="2359152"/>
            <a:ext cx="1287780" cy="178308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5"/>
          <p:cNvSpPr txBox="1"/>
          <p:nvPr/>
        </p:nvSpPr>
        <p:spPr>
          <a:xfrm>
            <a:off x="548640" y="4261104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Arial"/>
              <a:buNone/>
            </a:pPr>
            <a:r>
              <a:rPr lang="en-US" sz="9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Schermate del prodotto vero, con dati sintetici. Allo sportello decide sempre l'operatore.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5"/>
          <p:cNvSpPr txBox="1"/>
          <p:nvPr>
            <p:ph idx="4294967295" type="sldNum"/>
          </p:nvPr>
        </p:nvSpPr>
        <p:spPr>
          <a:xfrm>
            <a:off x="8229600" y="4773168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9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"/>
          <p:cNvSpPr txBox="1"/>
          <p:nvPr>
            <p:ph idx="1" type="body"/>
          </p:nvPr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None/>
            </a:pPr>
            <a:r>
              <a:rPr b="1" lang="en-US" sz="1100">
                <a:solidFill>
                  <a:schemeClr val="accent5"/>
                </a:solidFill>
              </a:rPr>
              <a:t>N · DOVE CI DIFFERENZIAMO</a:t>
            </a:r>
            <a:endParaRPr sz="1100"/>
          </a:p>
        </p:txBody>
      </p:sp>
      <p:sp>
        <p:nvSpPr>
          <p:cNvPr id="131" name="Google Shape;131;p6"/>
          <p:cNvSpPr txBox="1"/>
          <p:nvPr>
            <p:ph type="title"/>
          </p:nvPr>
        </p:nvSpPr>
        <p:spPr>
          <a:xfrm>
            <a:off x="548640" y="566928"/>
            <a:ext cx="8046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b="1" lang="en-US" sz="3000">
                <a:solidFill>
                  <a:schemeClr val="dk1"/>
                </a:solidFill>
              </a:rPr>
              <a:t>Non una semplice chat con un agente</a:t>
            </a:r>
            <a:endParaRPr sz="3000"/>
          </a:p>
        </p:txBody>
      </p:sp>
      <p:graphicFrame>
        <p:nvGraphicFramePr>
          <p:cNvPr id="132" name="Google Shape;132;p6"/>
          <p:cNvGraphicFramePr/>
          <p:nvPr/>
        </p:nvGraphicFramePr>
        <p:xfrm>
          <a:off x="548640" y="13258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{DBD698BA-FF35-43CC-BCCB-B88347BA5E61}</a:tableStyleId>
              </a:tblPr>
              <a:tblGrid>
                <a:gridCol w="3108950"/>
                <a:gridCol w="4937750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dk2"/>
                          </a:solidFill>
                        </a:rPr>
                        <a:t>Una chat generica</a:t>
                      </a:r>
                      <a:endParaRPr sz="1400" u="none" cap="none" strike="noStrike"/>
                    </a:p>
                  </a:txBody>
                  <a:tcPr marT="54875" marB="54875" marR="109725" marL="109725" anchor="ctr">
                    <a:lnL cap="flat" cmpd="sng" w="12700">
                      <a:solidFill>
                        <a:srgbClr val="C6C8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6C8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6C8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6C8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</a:rPr>
                        <a:t>OneVisit</a:t>
                      </a:r>
                      <a:endParaRPr sz="1400" u="none" cap="none" strike="noStrike"/>
                    </a:p>
                  </a:txBody>
                  <a:tcPr marT="54875" marB="54875" marR="109725" marL="109725" anchor="ctr">
                    <a:lnL cap="flat" cmpd="sng" w="12700">
                      <a:solidFill>
                        <a:srgbClr val="C6C8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6C8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6C8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6C8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2"/>
                          </a:solidFill>
                        </a:rPr>
                        <a:t>Risponde a memoria; se sbaglia, nessuno se ne accorge</a:t>
                      </a:r>
                      <a:endParaRPr sz="1400" u="none" cap="none" strike="noStrike"/>
                    </a:p>
                  </a:txBody>
                  <a:tcPr marT="54875" marB="54875" marR="109725" marL="109725" anchor="ctr">
                    <a:lnL cap="flat" cmpd="sng" w="12700">
                      <a:solidFill>
                        <a:srgbClr val="C6C8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6C8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6C8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6C8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dk1"/>
                          </a:solidFill>
                        </a:rPr>
                        <a:t>Requisiti solo da fonti verificate e citate; blocca le risposte senza fonte. Se non sa, lo dice</a:t>
                      </a:r>
                      <a:endParaRPr sz="1400" u="none" cap="none" strike="noStrike"/>
                    </a:p>
                  </a:txBody>
                  <a:tcPr marT="54875" marB="54875" marR="109725" marL="109725" anchor="ctr">
                    <a:lnL cap="flat" cmpd="sng" w="12700">
                      <a:solidFill>
                        <a:srgbClr val="C6C8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6C8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6C8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6C8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2"/>
                          </a:solidFill>
                        </a:rPr>
                        <a:t>Può dirti «sei in regola»</a:t>
                      </a:r>
                      <a:endParaRPr sz="1400" u="none" cap="none" strike="noStrike"/>
                    </a:p>
                  </a:txBody>
                  <a:tcPr marT="54875" marB="54875" marR="109725" marL="109725" anchor="ctr">
                    <a:lnL cap="flat" cmpd="sng" w="12700">
                      <a:solidFill>
                        <a:srgbClr val="C6C8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6C8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6C8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6C8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dk1"/>
                          </a:solidFill>
                        </a:rPr>
                        <a:t>Non dichiara mai l'idoneità: decide l'operatore allo sportello</a:t>
                      </a:r>
                      <a:endParaRPr sz="1400" u="none" cap="none" strike="noStrike"/>
                    </a:p>
                  </a:txBody>
                  <a:tcPr marT="54875" marB="54875" marR="109725" marL="109725" anchor="ctr">
                    <a:lnL cap="flat" cmpd="sng" w="12700">
                      <a:solidFill>
                        <a:srgbClr val="C6C8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6C8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6C8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6C8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2"/>
                          </a:solidFill>
                        </a:rPr>
                        <a:t>Finisce quando chiudi la finestra</a:t>
                      </a:r>
                      <a:endParaRPr sz="1400" u="none" cap="none" strike="noStrike"/>
                    </a:p>
                  </a:txBody>
                  <a:tcPr marT="54875" marB="54875" marR="109725" marL="109725" anchor="ctr">
                    <a:lnL cap="flat" cmpd="sng" w="12700">
                      <a:solidFill>
                        <a:srgbClr val="C6C8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6C8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6C8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6C8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dk1"/>
                          </a:solidFill>
                        </a:rPr>
                        <a:t>Accompagna fino allo sportello, e dopo chiede com'è andata</a:t>
                      </a:r>
                      <a:endParaRPr sz="1400" u="none" cap="none" strike="noStrike"/>
                    </a:p>
                  </a:txBody>
                  <a:tcPr marT="54875" marB="54875" marR="109725" marL="109725" anchor="ctr">
                    <a:lnL cap="flat" cmpd="sng" w="12700">
                      <a:solidFill>
                        <a:srgbClr val="C6C8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6C8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6C8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6C8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2"/>
                          </a:solidFill>
                        </a:rPr>
                        <a:t>Non insegna nulla al Comune</a:t>
                      </a:r>
                      <a:endParaRPr sz="1400" u="none" cap="none" strike="noStrike"/>
                    </a:p>
                  </a:txBody>
                  <a:tcPr marT="54875" marB="54875" marR="109725" marL="109725" anchor="ctr">
                    <a:lnL cap="flat" cmpd="sng" w="12700">
                      <a:solidFill>
                        <a:srgbClr val="C6C8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6C8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6C8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6C8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dk1"/>
                          </a:solidFill>
                        </a:rPr>
                        <a:t>Ogni esito negativo diventa una bozza di correzione della pagina</a:t>
                      </a:r>
                      <a:endParaRPr sz="1400" u="none" cap="none" strike="noStrike"/>
                    </a:p>
                  </a:txBody>
                  <a:tcPr marT="54875" marB="54875" marR="109725" marL="109725" anchor="ctr">
                    <a:lnL cap="flat" cmpd="sng" w="12700">
                      <a:solidFill>
                        <a:srgbClr val="C6C8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6C8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6C8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6C8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2"/>
                          </a:solidFill>
                        </a:rPr>
                        <a:t>Conserva quello che scrivi</a:t>
                      </a:r>
                      <a:endParaRPr sz="1400" u="none" cap="none" strike="noStrike"/>
                    </a:p>
                  </a:txBody>
                  <a:tcPr marT="54875" marB="54875" marR="109725" marL="109725" anchor="ctr">
                    <a:lnL cap="flat" cmpd="sng" w="12700">
                      <a:solidFill>
                        <a:srgbClr val="C6C8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6C8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6C8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6C8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dk1"/>
                          </a:solidFill>
                        </a:rPr>
                        <a:t>Non conserva i messaggi; contatti cifrati solo se li lasci; il pannello vede solo aggregati</a:t>
                      </a:r>
                      <a:endParaRPr sz="1400" u="none" cap="none" strike="noStrike"/>
                    </a:p>
                  </a:txBody>
                  <a:tcPr marT="54875" marB="54875" marR="109725" marL="109725" anchor="ctr">
                    <a:lnL cap="flat" cmpd="sng" w="12700">
                      <a:solidFill>
                        <a:srgbClr val="C6C8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6C8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6C8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6C8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33" name="Google Shape;133;p6"/>
          <p:cNvSpPr txBox="1"/>
          <p:nvPr>
            <p:ph idx="4294967295" type="sldNum"/>
          </p:nvPr>
        </p:nvSpPr>
        <p:spPr>
          <a:xfrm>
            <a:off x="8229600" y="4773168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9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"/>
          <p:cNvSpPr txBox="1"/>
          <p:nvPr>
            <p:ph idx="1" type="body"/>
          </p:nvPr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None/>
            </a:pPr>
            <a:r>
              <a:rPr b="1" lang="en-US" sz="1100">
                <a:solidFill>
                  <a:schemeClr val="accent5"/>
                </a:solidFill>
              </a:rPr>
              <a:t>N · IL VALORE PER IL COMUNE</a:t>
            </a:r>
            <a:endParaRPr sz="1100"/>
          </a:p>
        </p:txBody>
      </p:sp>
      <p:sp>
        <p:nvSpPr>
          <p:cNvPr id="140" name="Google Shape;140;p7"/>
          <p:cNvSpPr txBox="1"/>
          <p:nvPr>
            <p:ph type="title"/>
          </p:nvPr>
        </p:nvSpPr>
        <p:spPr>
          <a:xfrm>
            <a:off x="548640" y="566928"/>
            <a:ext cx="8046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b="1" lang="en-US" sz="3000">
                <a:solidFill>
                  <a:schemeClr val="dk1"/>
                </a:solidFill>
              </a:rPr>
              <a:t>KPI: cosa correggere, e quanto vale</a:t>
            </a:r>
            <a:endParaRPr sz="3000"/>
          </a:p>
        </p:txBody>
      </p:sp>
      <p:sp>
        <p:nvSpPr>
          <p:cNvPr id="141" name="Google Shape;141;p7"/>
          <p:cNvSpPr/>
          <p:nvPr/>
        </p:nvSpPr>
        <p:spPr>
          <a:xfrm>
            <a:off x="502920" y="1280160"/>
            <a:ext cx="4297680" cy="2457450"/>
          </a:xfrm>
          <a:prstGeom prst="roundRect">
            <a:avLst>
              <a:gd fmla="val 2977" name="adj"/>
            </a:avLst>
          </a:prstGeom>
          <a:solidFill>
            <a:schemeClr val="lt1"/>
          </a:solidFill>
          <a:ln cap="flat" cmpd="sng" w="127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annello del Comune con i KPI, dati sintetici" id="142" name="Google Shape;14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325880"/>
            <a:ext cx="4206240" cy="236601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7"/>
          <p:cNvSpPr/>
          <p:nvPr/>
        </p:nvSpPr>
        <p:spPr>
          <a:xfrm>
            <a:off x="3246120" y="1417320"/>
            <a:ext cx="1417320" cy="292608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7"/>
          <p:cNvSpPr txBox="1"/>
          <p:nvPr/>
        </p:nvSpPr>
        <p:spPr>
          <a:xfrm>
            <a:off x="3246120" y="1417320"/>
            <a:ext cx="1417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1" lang="en-US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DATI SINTETICI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7"/>
          <p:cNvSpPr txBox="1"/>
          <p:nvPr/>
        </p:nvSpPr>
        <p:spPr>
          <a:xfrm>
            <a:off x="548640" y="3767328"/>
            <a:ext cx="4206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Arial"/>
              <a:buNone/>
            </a:pPr>
            <a:r>
              <a:rPr lang="en-US" sz="10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Pannello con 400 casi sintetici: i numeri non sono risultati.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7"/>
          <p:cNvSpPr txBox="1"/>
          <p:nvPr/>
        </p:nvSpPr>
        <p:spPr>
          <a:xfrm>
            <a:off x="548640" y="4041648"/>
            <a:ext cx="4206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Esito negativo → bozza di Claude per causa → la redazione approva → la checklist si aggiorna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5120640" y="1362456"/>
            <a:ext cx="310896" cy="310896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7"/>
          <p:cNvSpPr txBox="1"/>
          <p:nvPr/>
        </p:nvSpPr>
        <p:spPr>
          <a:xfrm>
            <a:off x="5120640" y="1362456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b="1" lang="en-US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7"/>
          <p:cNvSpPr txBox="1"/>
          <p:nvPr/>
        </p:nvSpPr>
        <p:spPr>
          <a:xfrm>
            <a:off x="5532120" y="1325880"/>
            <a:ext cx="3063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Redazione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7"/>
          <p:cNvSpPr txBox="1"/>
          <p:nvPr/>
        </p:nvSpPr>
        <p:spPr>
          <a:xfrm>
            <a:off x="5532120" y="1572768"/>
            <a:ext cx="3063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</a:pPr>
            <a:r>
              <a:rPr lang="en-US" sz="12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lacune per causa, approva le bozze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5120640" y="1911096"/>
            <a:ext cx="310896" cy="310896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"/>
          <p:cNvSpPr txBox="1"/>
          <p:nvPr/>
        </p:nvSpPr>
        <p:spPr>
          <a:xfrm>
            <a:off x="5120640" y="1911096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b="1" lang="en-US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7"/>
          <p:cNvSpPr txBox="1"/>
          <p:nvPr/>
        </p:nvSpPr>
        <p:spPr>
          <a:xfrm>
            <a:off x="5532120" y="1874520"/>
            <a:ext cx="3063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Ufficio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7"/>
          <p:cNvSpPr txBox="1"/>
          <p:nvPr/>
        </p:nvSpPr>
        <p:spPr>
          <a:xfrm>
            <a:off x="5532120" y="2121408"/>
            <a:ext cx="3063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</a:pPr>
            <a:r>
              <a:rPr lang="en-US" sz="12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segnalazioni per procedura e per sede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5120640" y="2459736"/>
            <a:ext cx="310896" cy="310896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"/>
          <p:cNvSpPr txBox="1"/>
          <p:nvPr/>
        </p:nvSpPr>
        <p:spPr>
          <a:xfrm>
            <a:off x="5120640" y="2459736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b="1" lang="en-US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7"/>
          <p:cNvSpPr txBox="1"/>
          <p:nvPr/>
        </p:nvSpPr>
        <p:spPr>
          <a:xfrm>
            <a:off x="5532120" y="2423160"/>
            <a:ext cx="3063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Direzione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7"/>
          <p:cNvSpPr txBox="1"/>
          <p:nvPr/>
        </p:nvSpPr>
        <p:spPr>
          <a:xfrm>
            <a:off x="5532120" y="2670048"/>
            <a:ext cx="3063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</a:pPr>
            <a:r>
              <a:rPr lang="en-US" sz="12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chiusure al 1° colpo, effetto correzioni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5120640" y="3008376"/>
            <a:ext cx="310896" cy="310896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7"/>
          <p:cNvSpPr txBox="1"/>
          <p:nvPr/>
        </p:nvSpPr>
        <p:spPr>
          <a:xfrm>
            <a:off x="5120640" y="3008376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b="1" lang="en-US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7"/>
          <p:cNvSpPr txBox="1"/>
          <p:nvPr/>
        </p:nvSpPr>
        <p:spPr>
          <a:xfrm>
            <a:off x="5532120" y="2971800"/>
            <a:ext cx="3063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 tutti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7"/>
          <p:cNvSpPr txBox="1"/>
          <p:nvPr/>
        </p:nvSpPr>
        <p:spPr>
          <a:xfrm>
            <a:off x="5532120" y="3218688"/>
            <a:ext cx="3063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</a:pPr>
            <a:r>
              <a:rPr lang="en-US" sz="12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visite evitate e costo stimato, mai sotto 5 casi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7"/>
          <p:cNvSpPr txBox="1"/>
          <p:nvPr/>
        </p:nvSpPr>
        <p:spPr>
          <a:xfrm>
            <a:off x="5120640" y="3611880"/>
            <a:ext cx="16459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</a:pPr>
            <a:r>
              <a:rPr b="1" lang="en-US" sz="36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9.000</a:t>
            </a:r>
            <a:endParaRPr sz="3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7"/>
          <p:cNvSpPr txBox="1"/>
          <p:nvPr/>
        </p:nvSpPr>
        <p:spPr>
          <a:xfrm>
            <a:off x="6720840" y="3639312"/>
            <a:ext cx="1874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</a:pPr>
            <a:r>
              <a:rPr lang="en-US" sz="12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slot liberati l'anno, al massimo: l'obiettivo*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7"/>
          <p:cNvSpPr txBox="1"/>
          <p:nvPr/>
        </p:nvSpPr>
        <p:spPr>
          <a:xfrm>
            <a:off x="548640" y="4462272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Arial"/>
              <a:buNone/>
            </a:pPr>
            <a:r>
              <a:rPr lang="en-US" sz="9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*Obiettivo, non risultato: 4.500 pratiche da 3 appuntamenti a 1, nell'ipotesi della testimonianza. Il pannello serve a misurarlo.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7"/>
          <p:cNvSpPr txBox="1"/>
          <p:nvPr>
            <p:ph idx="4294967295" type="sldNum"/>
          </p:nvPr>
        </p:nvSpPr>
        <p:spPr>
          <a:xfrm>
            <a:off x="8229600" y="4773168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9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"/>
          <p:cNvSpPr txBox="1"/>
          <p:nvPr>
            <p:ph idx="1" type="body"/>
          </p:nvPr>
        </p:nvSpPr>
        <p:spPr>
          <a:xfrm>
            <a:off x="548640" y="457200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</a:pPr>
            <a:r>
              <a:rPr b="1" lang="en-US" sz="1200">
                <a:solidFill>
                  <a:schemeClr val="accent4"/>
                </a:solidFill>
              </a:rPr>
              <a:t>IL NOSTRO SPUNTO</a:t>
            </a:r>
            <a:endParaRPr sz="1200"/>
          </a:p>
        </p:txBody>
      </p:sp>
      <p:sp>
        <p:nvSpPr>
          <p:cNvPr id="173" name="Google Shape;173;p8"/>
          <p:cNvSpPr txBox="1"/>
          <p:nvPr/>
        </p:nvSpPr>
        <p:spPr>
          <a:xfrm>
            <a:off x="548640" y="914400"/>
            <a:ext cx="80467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b="1" lang="en-US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Un appuntamento andato male non è un fallimento: è un dato</a:t>
            </a:r>
            <a:endParaRPr sz="3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8"/>
          <p:cNvSpPr txBox="1"/>
          <p:nvPr/>
        </p:nvSpPr>
        <p:spPr>
          <a:xfrm>
            <a:off x="548640" y="2286000"/>
            <a:ext cx="78638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Per partire non serve toccare il sistema di prenotazione: un link nelle email che il Comune già invia ai nuovi residenti, e i requisiti verificati una volta dagli uffici.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8"/>
          <p:cNvSpPr txBox="1"/>
          <p:nvPr/>
        </p:nvSpPr>
        <p:spPr>
          <a:xfrm>
            <a:off x="548640" y="342900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b="1" lang="en-US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OneVisit</a:t>
            </a:r>
            <a:r>
              <a:rPr b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  ·  Una visita, una pratica chiusa.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8"/>
          <p:cNvSpPr txBox="1"/>
          <p:nvPr/>
        </p:nvSpPr>
        <p:spPr>
          <a:xfrm>
            <a:off x="548640" y="4343400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Gira su Claude: Sonnet 5.5 capisce e analizza, Haiku 4.5 protegge la privacy · github.com/mohammad-nouri-zadeh/onevisit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neVisit">
  <a:themeElements>
    <a:clrScheme name="OneVisit">
      <a:dk1>
        <a:srgbClr val="111214"/>
      </a:dk1>
      <a:lt1>
        <a:srgbClr val="FFFFFF"/>
      </a:lt1>
      <a:dk2>
        <a:srgbClr val="4A4D55"/>
      </a:dk2>
      <a:lt2>
        <a:srgbClr val="EDEEF0"/>
      </a:lt2>
      <a:accent1>
        <a:srgbClr val="3E7B27"/>
      </a:accent1>
      <a:accent2>
        <a:srgbClr val="6AA84F"/>
      </a:accent2>
      <a:accent3>
        <a:srgbClr val="B3261E"/>
      </a:accent3>
      <a:accent4>
        <a:srgbClr val="C6C8CE"/>
      </a:accent4>
      <a:accent5>
        <a:srgbClr val="5E626B"/>
      </a:accent5>
      <a:accent6>
        <a:srgbClr val="E4E5E9"/>
      </a:accent6>
      <a:hlink>
        <a:srgbClr val="111214"/>
      </a:hlink>
      <a:folHlink>
        <a:srgbClr val="4A4D5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i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2026-10-03T13:10:04Z</dcterms:created>
  <dc:creator>Team OneVisit</dc:creator>
</cp:coreProperties>
</file>