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18a76c3-a7a7-678c-9f4a-b27dad92bff4}">
          <p14:sldIdLst>
            <p14:sldId id="256"/>
          </p14:sldIdLst>
        </p14:section>
        <p14:section name="Situazione e problema" id="{402992a9-7b80-0c2a-6ff8-2d97d6194e7f}">
          <p14:sldIdLst>
            <p14:sldId id="257"/>
            <p14:sldId id="258"/>
          </p14:sldIdLst>
        </p14:section>
        <p14:section name="Per il cittadino" id="{92a3be2c-feb8-dd72-d610-649f68287c72}">
          <p14:sldIdLst>
            <p14:sldId id="259"/>
            <p14:sldId id="260"/>
          </p14:sldIdLst>
        </p14:section>
        <p14:section name="Dove lavora Claude" id="{69f76ce2-1333-6b6b-5644-36813a5ce8a4}">
          <p14:sldIdLst>
            <p14:sldId id="261"/>
          </p14:sldIdLst>
        </p14:section>
        <p14:section name="Per il Comune" id="{7f99a531-a4a9-dc2b-daa4-9b5f7976d0b8}">
          <p14:sldIdLst>
            <p14:sldId id="262"/>
          </p14:sldIdLst>
        </p14:section>
        <p14:section name="Chiusura" id="{bc866e57-173a-b171-fc2f-ecf583db2bb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Aggancio (0:00–0:12)
«Ho dovuto prendere tre appuntamenti di quindici minuti per mettere a posto la mia residenza.» Siamo OneVisit: due italiani e tre arrivati dal mondo. Vogliamo che ne basti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Situazione (0:12–0:20)
Nel 2024 quasi ventimila persone si sono iscritte all'anagrafe di Milano arrivando dall'estero. La comunità straniera più numerosa è quella egiziana.
Problema (0:20–0:38)
Il sondaggio del Comune sul servizio online di residenza: ha aiutato poco o niente il quarantadue per cento degli stranieri, il ventotto per cento degli italiani.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(segue)
E le regole sono sparse tra Comune, Questura, Agenzia delle Entrate e un elenco di documenti in PDF del 2013.
Implicazione (0:38–0:50)
La residenza si chiede online, una domanda alla volta: finché la prima non è conclusa, il sistema non ne accetta un'altra. Deve partire completa.
[pausa di 2 secondi]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 per il cittadino: la demo (0:50–1:18)
Lei è arrivata dal Cairo il mese scorso. Scrivo la sua frase in arabo, dal vivo.
[Regia: in sala qui si usa l'app dal vivo su onevisit.streamlit.app (piano B ?demo=1); questa slide è la riserva e la versione da leggere.]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 per il cittadino: la demo (segue)
Claude capisce che le serve la residenza e chiede solo ciò che cambia la lista: permesso, famiglia, casa. Ecco la checklist in arabo: ventiquattro voci, ognuna con la frase esatta della pagina. I nove file da caricare, sezione per sezione. E il dossier, in italiano e arabo.
[Regia: in sala qui si usa l'app dal vivo su onevisit.streamlit.app (piano B ?demo=1); questa slide è la riserva e la versione da leggere.]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Dove lavora Claude (1:18–1:32)
Claude decide cosa chiedere, mette in ordine le prossime tre azioni e traduce. Ma non scrive mai un requisito a memoria: un controllo automatico blocca ogni risposta senza fonte o che dica «sei in regola», e scarta ogni azione fuori dalla checklist. Se non sa, lo dice. Decide l'operatore.
[Regia: in sala qui si usa l'app dal vivo su onevisit.streamlit.app (piano B ?demo=1); questa slide è la riserva e la versione da leggere.]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Primo giorno e valore per il Comune (1:32–1:55)
Per attivarlo basta una riga nelle mail che il Comune già manda: dalla conferma dell'appuntamento, OneVisit si apre con servizio, sede e data. Dopo, le segnalazioni anonime diventano bozze di correzione delle pagine, che un funzionario approva. La prima lacuna l'abbiamo trovata noi: l'elenco ufficiale non dice cosa serve a chi aspetta il primo permesso per studio.
[Regia: in sala qui si usa l'app dal vivo su onevisit.streamlit.app (piano B ?demo=1); questa slide è la riserva e la versione da leggere.]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(1:55–2:00)
La pratica chiusa al primo invio o al primo appuntamento: OneVisit.
Per le domande («Cosa serve al Comune domani?»): Una riga nel modello della mail di conferma, la stessa nelle mail di benvenuto e su YesMilano, e un funzionario che verifica le citazioni una volta per servizio. Nessun accesso ai sistemi, nessun dato personale.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_TITOL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15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_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4000"/>
              </a:lnSpc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lnSpc>
                <a:spcPts val="4000"/>
              </a:lnSpc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640080" y="6400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OneVisit · prototipo non ufficiale: non è un servizio del Comune di Milano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_CHIUSUR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658368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15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6868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4000"/>
              </a:lnSpc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lnSpc>
                <a:spcPts val="400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3"/>
                </a:solidFill>
              </a:rPr>
              <a:t>CLAUDE IMPACT LAB MILANO · TRACK 01</a:t>
            </a:r>
            <a:endParaRPr lang="en-US" sz="1400" dirty="0"/>
          </a:p>
        </p:txBody>
      </p:sp>
      <p:sp>
        <p:nvSpPr>
          <p:cNvPr id="3" name="titolo"/>
          <p:cNvSpPr txBox="1"/>
          <p:nvPr/>
        </p:nvSpPr>
        <p:spPr>
          <a:xfrm>
            <a:off x="640080" y="109728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00"/>
              </a:lnSpc>
              <a:buNone/>
            </a:pPr>
            <a:r>
              <a:rPr lang="en-US" sz="8800" b="1" dirty="0">
                <a:solidFill>
                  <a:schemeClr val="bg1"/>
                </a:solidFill>
              </a:rPr>
              <a:t>OneVisit</a:t>
            </a:r>
            <a:endParaRPr lang="en-US" sz="88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39572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La pratica chiusa al primo invio o al primo appuntamento.</a:t>
            </a:r>
            <a:endParaRPr lang="en-US" sz="2800" dirty="0"/>
          </a:p>
        </p:txBody>
      </p:sp>
      <p:sp>
        <p:nvSpPr>
          <p:cNvPr id="5" name="testimonianza-box"/>
          <p:cNvSpPr/>
          <p:nvPr/>
        </p:nvSpPr>
        <p:spPr>
          <a:xfrm>
            <a:off x="640080" y="3657600"/>
            <a:ext cx="6583680" cy="2157984"/>
          </a:xfrm>
          <a:prstGeom prst="roundRect">
            <a:avLst>
              <a:gd name="adj" fmla="val 50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stimonianza"/>
          <p:cNvSpPr txBox="1"/>
          <p:nvPr/>
        </p:nvSpPr>
        <p:spPr>
          <a:xfrm>
            <a:off x="960120" y="40233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i="1" dirty="0">
                <a:solidFill>
                  <a:schemeClr val="bg1"/>
                </a:solidFill>
              </a:rPr>
              <a:t>«Ho dovuto prendere tre appuntamenti di quindici minuti per mettere a posto la mia residenza.»</a:t>
            </a:r>
            <a:endParaRPr lang="en-US" sz="2200" dirty="0"/>
          </a:p>
        </p:txBody>
      </p:sp>
      <p:sp>
        <p:nvSpPr>
          <p:cNvPr id="7" name="testimonianza-fonte"/>
          <p:cNvSpPr txBox="1"/>
          <p:nvPr/>
        </p:nvSpPr>
        <p:spPr>
          <a:xfrm>
            <a:off x="960120" y="5138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Una testimonianza raccolta dal team</a:t>
            </a:r>
            <a:endParaRPr lang="en-US" sz="1400" dirty="0"/>
          </a:p>
        </p:txBody>
      </p:sp>
      <p:sp>
        <p:nvSpPr>
          <p:cNvPr id="8" name="tre"/>
          <p:cNvSpPr txBox="1"/>
          <p:nvPr/>
        </p:nvSpPr>
        <p:spPr>
          <a:xfrm>
            <a:off x="7708392" y="10515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0"/>
              </a:lnSpc>
              <a:buNone/>
            </a:pPr>
            <a:r>
              <a:rPr lang="en-US" sz="14000" b="1" dirty="0">
                <a:solidFill>
                  <a:schemeClr val="accent3">
                    <a:alpha val="55000"/>
                  </a:schemeClr>
                </a:solidFill>
              </a:rPr>
              <a:t>3</a:t>
            </a:r>
            <a:endParaRPr lang="en-US" sz="14000" dirty="0"/>
          </a:p>
        </p:txBody>
      </p:sp>
      <p:pic>
        <p:nvPicPr>
          <p:cNvPr id="9" name="freccia" descr="Frec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4" y="1664208"/>
            <a:ext cx="566928" cy="566928"/>
          </a:xfrm>
          <a:prstGeom prst="rect">
            <a:avLst/>
          </a:prstGeom>
        </p:spPr>
      </p:pic>
      <p:sp>
        <p:nvSpPr>
          <p:cNvPr id="10" name="uno"/>
          <p:cNvSpPr txBox="1"/>
          <p:nvPr/>
        </p:nvSpPr>
        <p:spPr>
          <a:xfrm>
            <a:off x="10040112" y="10515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0"/>
              </a:lnSpc>
              <a:buNone/>
            </a:pPr>
            <a:r>
              <a:rPr lang="en-US" sz="14000" b="1" dirty="0">
                <a:solidFill>
                  <a:schemeClr val="bg1"/>
                </a:solidFill>
              </a:rPr>
              <a:t>1</a:t>
            </a:r>
            <a:endParaRPr lang="en-US" sz="14000" dirty="0"/>
          </a:p>
        </p:txBody>
      </p:sp>
      <p:sp>
        <p:nvSpPr>
          <p:cNvPr id="11" name="tre-etichetta"/>
          <p:cNvSpPr txBox="1"/>
          <p:nvPr/>
        </p:nvSpPr>
        <p:spPr>
          <a:xfrm>
            <a:off x="7525512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appuntamenti nella testimonianza</a:t>
            </a:r>
            <a:endParaRPr lang="en-US" sz="1400" dirty="0"/>
          </a:p>
        </p:txBody>
      </p:sp>
      <p:sp>
        <p:nvSpPr>
          <p:cNvPr id="12" name="uno-etichetta"/>
          <p:cNvSpPr txBox="1"/>
          <p:nvPr/>
        </p:nvSpPr>
        <p:spPr>
          <a:xfrm>
            <a:off x="9857232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l'obiettivo: una visita</a:t>
            </a:r>
            <a:endParaRPr lang="en-US" sz="1400" dirty="0"/>
          </a:p>
        </p:txBody>
      </p:sp>
      <p:sp>
        <p:nvSpPr>
          <p:cNvPr id="13" name="team-cornice"/>
          <p:cNvSpPr/>
          <p:nvPr/>
        </p:nvSpPr>
        <p:spPr>
          <a:xfrm>
            <a:off x="7671816" y="3621024"/>
            <a:ext cx="3916375" cy="223496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team-foto" descr="Il team OneVisit in videochiamata: due persone dall'Italia e tre dal resto del mo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3657600"/>
            <a:ext cx="3843223" cy="2161813"/>
          </a:xfrm>
          <a:prstGeom prst="rect">
            <a:avLst/>
          </a:prstGeom>
        </p:spPr>
      </p:pic>
      <p:sp>
        <p:nvSpPr>
          <p:cNvPr id="15" name="team-didascalia"/>
          <p:cNvSpPr txBox="1"/>
          <p:nvPr/>
        </p:nvSpPr>
        <p:spPr>
          <a:xfrm>
            <a:off x="7708392" y="5929141"/>
            <a:ext cx="3843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3"/>
                </a:solidFill>
              </a:rPr>
              <a:t>Il team: due italiani e tre arrivati dal mondo</a:t>
            </a:r>
            <a:endParaRPr lang="en-US" sz="1300" dirty="0"/>
          </a:p>
        </p:txBody>
      </p:sp>
      <p:sp>
        <p:nvSpPr>
          <p:cNvPr id="16" name="nota"/>
          <p:cNvSpPr txBox="1"/>
          <p:nvPr/>
        </p:nvSpPr>
        <p:spPr>
          <a:xfrm>
            <a:off x="640080" y="6263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Prototipo non ufficiale: non è un servizio del Comune di Milano · gira su Claude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SITUAZIONE ·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Chi arriva dall'estero trova meno aiuto</a:t>
            </a:r>
            <a:endParaRPr lang="en-US" sz="3600" dirty="0"/>
          </a:p>
        </p:txBody>
      </p:sp>
      <p:sp>
        <p:nvSpPr>
          <p:cNvPr id="4" name="arrivi-numero"/>
          <p:cNvSpPr txBox="1"/>
          <p:nvPr/>
        </p:nvSpPr>
        <p:spPr>
          <a:xfrm>
            <a:off x="640080" y="17830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00"/>
              </a:lnSpc>
              <a:buNone/>
            </a:pPr>
            <a:r>
              <a:rPr lang="en-US" sz="8800" b="1" dirty="0">
                <a:solidFill>
                  <a:schemeClr val="accent1"/>
                </a:solidFill>
              </a:rPr>
              <a:t>19.755</a:t>
            </a:r>
            <a:endParaRPr lang="en-US" sz="8800" dirty="0"/>
          </a:p>
        </p:txBody>
      </p:sp>
      <p:sp>
        <p:nvSpPr>
          <p:cNvPr id="5" name="arrivi-etichetta"/>
          <p:cNvSpPr txBox="1"/>
          <p:nvPr/>
        </p:nvSpPr>
        <p:spPr>
          <a:xfrm>
            <a:off x="64008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persone iscritte all'anagrafe di Milano nel 2024 arrivando dall'estero</a:t>
            </a:r>
            <a:endParaRPr lang="en-US" sz="2100" dirty="0"/>
          </a:p>
        </p:txBody>
      </p:sp>
      <p:sp>
        <p:nvSpPr>
          <p:cNvPr id="6" name="arrivi-chip"/>
          <p:cNvSpPr/>
          <p:nvPr/>
        </p:nvSpPr>
        <p:spPr>
          <a:xfrm>
            <a:off x="640080" y="3886200"/>
            <a:ext cx="226771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arrivi-chip-testo"/>
          <p:cNvSpPr txBox="1"/>
          <p:nvPr/>
        </p:nvSpPr>
        <p:spPr>
          <a:xfrm>
            <a:off x="640080" y="388620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Comune di Milano · ds1959</a:t>
            </a:r>
            <a:endParaRPr lang="en-US" sz="1200" dirty="0"/>
          </a:p>
        </p:txBody>
      </p:sp>
      <p:sp>
        <p:nvSpPr>
          <p:cNvPr id="8" name="egitto-titolo"/>
          <p:cNvSpPr txBox="1"/>
          <p:nvPr/>
        </p:nvSpPr>
        <p:spPr>
          <a:xfrm>
            <a:off x="640080" y="452628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La prima comunità straniera è quella egiziana</a:t>
            </a:r>
            <a:endParaRPr lang="en-US" sz="1800" dirty="0"/>
          </a:p>
        </p:txBody>
      </p:sp>
      <p:sp>
        <p:nvSpPr>
          <p:cNvPr id="9" name="egitto-testo"/>
          <p:cNvSpPr txBox="1"/>
          <p:nvPr/>
        </p:nvSpPr>
        <p:spPr>
          <a:xfrm>
            <a:off x="640080" y="490118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41.957 residenti, il 14,2% dei 295.805 stranieri (2025)</a:t>
            </a:r>
            <a:endParaRPr lang="en-US" sz="1600" dirty="0"/>
          </a:p>
        </p:txBody>
      </p:sp>
      <p:sp>
        <p:nvSpPr>
          <p:cNvPr id="10" name="egitto-chip"/>
          <p:cNvSpPr/>
          <p:nvPr/>
        </p:nvSpPr>
        <p:spPr>
          <a:xfrm>
            <a:off x="640080" y="5340096"/>
            <a:ext cx="2109704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egitto-chip-testo"/>
          <p:cNvSpPr txBox="1"/>
          <p:nvPr/>
        </p:nvSpPr>
        <p:spPr>
          <a:xfrm>
            <a:off x="640080" y="5340096"/>
            <a:ext cx="210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Comune di Milano · ds74</a:t>
            </a:r>
            <a:endParaRPr lang="en-US" sz="1200" dirty="0"/>
          </a:p>
        </p:txBody>
      </p:sp>
      <p:sp>
        <p:nvSpPr>
          <p:cNvPr id="12" name="sondaggio-box"/>
          <p:cNvSpPr/>
          <p:nvPr/>
        </p:nvSpPr>
        <p:spPr>
          <a:xfrm>
            <a:off x="6263640" y="1783080"/>
            <a:ext cx="5285232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ondaggio-titolo"/>
          <p:cNvSpPr txBox="1"/>
          <p:nvPr/>
        </p:nvSpPr>
        <p:spPr>
          <a:xfrm>
            <a:off x="6583680" y="2011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Il servizio online di residenza ha aiutato poco o per niente</a:t>
            </a:r>
            <a:endParaRPr lang="en-US" sz="2100" dirty="0"/>
          </a:p>
        </p:txBody>
      </p:sp>
      <p:sp>
        <p:nvSpPr>
          <p:cNvPr id="14" name="sondaggio-0-valore"/>
          <p:cNvSpPr txBox="1"/>
          <p:nvPr/>
        </p:nvSpPr>
        <p:spPr>
          <a:xfrm>
            <a:off x="65836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chemeClr val="accent1"/>
                </a:solidFill>
              </a:rPr>
              <a:t>42,1%</a:t>
            </a:r>
            <a:endParaRPr lang="en-US" sz="6000" dirty="0"/>
          </a:p>
        </p:txBody>
      </p:sp>
      <p:sp>
        <p:nvSpPr>
          <p:cNvPr id="15" name="sondaggio-0-etichetta"/>
          <p:cNvSpPr txBox="1"/>
          <p:nvPr/>
        </p:nvSpPr>
        <p:spPr>
          <a:xfrm>
            <a:off x="6583680" y="3858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dei 1.612 stranieri</a:t>
            </a:r>
            <a:endParaRPr lang="en-US" sz="1700" dirty="0"/>
          </a:p>
        </p:txBody>
      </p:sp>
      <p:sp>
        <p:nvSpPr>
          <p:cNvPr id="16" name="sondaggio-0-scala"/>
          <p:cNvSpPr/>
          <p:nvPr/>
        </p:nvSpPr>
        <p:spPr>
          <a:xfrm>
            <a:off x="6583680" y="4315968"/>
            <a:ext cx="2194560" cy="182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ondaggio-0-barra"/>
          <p:cNvSpPr/>
          <p:nvPr/>
        </p:nvSpPr>
        <p:spPr>
          <a:xfrm>
            <a:off x="6583680" y="4315968"/>
            <a:ext cx="1847820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ondaggio-1-valore"/>
          <p:cNvSpPr txBox="1"/>
          <p:nvPr/>
        </p:nvSpPr>
        <p:spPr>
          <a:xfrm>
            <a:off x="909828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chemeClr val="accent4"/>
                </a:solidFill>
              </a:rPr>
              <a:t>28,2%</a:t>
            </a:r>
            <a:endParaRPr lang="en-US" sz="6000" dirty="0"/>
          </a:p>
        </p:txBody>
      </p:sp>
      <p:sp>
        <p:nvSpPr>
          <p:cNvPr id="19" name="sondaggio-1-etichetta"/>
          <p:cNvSpPr txBox="1"/>
          <p:nvPr/>
        </p:nvSpPr>
        <p:spPr>
          <a:xfrm>
            <a:off x="9098280" y="3858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degli 8.582 italiani</a:t>
            </a:r>
            <a:endParaRPr lang="en-US" sz="1700" dirty="0"/>
          </a:p>
        </p:txBody>
      </p:sp>
      <p:sp>
        <p:nvSpPr>
          <p:cNvPr id="20" name="sondaggio-1-scala"/>
          <p:cNvSpPr/>
          <p:nvPr/>
        </p:nvSpPr>
        <p:spPr>
          <a:xfrm>
            <a:off x="9098280" y="4315968"/>
            <a:ext cx="2194560" cy="1828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ondaggio-1-barra"/>
          <p:cNvSpPr/>
          <p:nvPr/>
        </p:nvSpPr>
        <p:spPr>
          <a:xfrm>
            <a:off x="9098280" y="4315968"/>
            <a:ext cx="1237732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ondaggio-nota"/>
          <p:cNvSpPr txBox="1"/>
          <p:nvPr/>
        </p:nvSpPr>
        <p:spPr>
          <a:xfrm>
            <a:off x="6583680" y="47091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Sondaggio del Comune, 2022: 10.194 risposte, tutte compilate in italiano. Le barre arrivano al 50%.</a:t>
            </a:r>
            <a:endParaRPr lang="en-US" sz="1400" dirty="0"/>
          </a:p>
        </p:txBody>
      </p:sp>
      <p:sp>
        <p:nvSpPr>
          <p:cNvPr id="23" name="sondaggio-chip"/>
          <p:cNvSpPr/>
          <p:nvPr/>
        </p:nvSpPr>
        <p:spPr>
          <a:xfrm>
            <a:off x="6583680" y="5367528"/>
            <a:ext cx="226771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ondaggio-chip-testo"/>
          <p:cNvSpPr txBox="1"/>
          <p:nvPr/>
        </p:nvSpPr>
        <p:spPr>
          <a:xfrm>
            <a:off x="6583680" y="536752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Comune di Milano · ds1702</a:t>
            </a:r>
            <a:endParaRPr lang="en-US" sz="1200" dirty="0"/>
          </a:p>
        </p:txBody>
      </p:sp>
      <p:sp>
        <p:nvSpPr>
          <p:cNvPr id="25" name="nota-fonti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Open data del Comune di Milano: ds1959 iscrizioni 2024 per provenienza (qualsiasi cittadinanza), ds74 stranieri residenti 2025, ds1702 sondaggio 2022.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PROBLEMA · IMPLICAZIONE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Regole sparse, una domanda alla volta</a:t>
            </a:r>
            <a:endParaRPr lang="en-US" sz="3600" dirty="0"/>
          </a:p>
        </p:txBody>
      </p:sp>
      <p:sp>
        <p:nvSpPr>
          <p:cNvPr id="4" name="fonti-titolo"/>
          <p:cNvSpPr txBox="1"/>
          <p:nvPr/>
        </p:nvSpPr>
        <p:spPr>
          <a:xfrm>
            <a:off x="640080" y="178308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Le regole di un solo caso stanno in cinque posti</a:t>
            </a:r>
            <a:endParaRPr lang="en-US" sz="1800" dirty="0"/>
          </a:p>
        </p:txBody>
      </p:sp>
      <p:sp>
        <p:nvSpPr>
          <p:cNvPr id="5" name="fonte-0-cerchio"/>
          <p:cNvSpPr/>
          <p:nvPr/>
        </p:nvSpPr>
        <p:spPr>
          <a:xfrm>
            <a:off x="640080" y="236829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fonte-0-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34" y="2480950"/>
            <a:ext cx="286756" cy="286756"/>
          </a:xfrm>
          <a:prstGeom prst="rect">
            <a:avLst/>
          </a:prstGeom>
        </p:spPr>
      </p:pic>
      <p:sp>
        <p:nvSpPr>
          <p:cNvPr id="7" name="fonte-0-nome"/>
          <p:cNvSpPr txBox="1"/>
          <p:nvPr/>
        </p:nvSpPr>
        <p:spPr>
          <a:xfrm>
            <a:off x="1371600" y="2331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Comune di Milano</a:t>
            </a:r>
            <a:endParaRPr lang="en-US" sz="1800" dirty="0"/>
          </a:p>
        </p:txBody>
      </p:sp>
      <p:sp>
        <p:nvSpPr>
          <p:cNvPr id="8" name="fonte-0-testo"/>
          <p:cNvSpPr txBox="1"/>
          <p:nvPr/>
        </p:nvSpPr>
        <p:spPr>
          <a:xfrm>
            <a:off x="137160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pagina del servizio, modulistica, modulo online</a:t>
            </a:r>
            <a:endParaRPr lang="en-US" sz="1500" dirty="0"/>
          </a:p>
        </p:txBody>
      </p:sp>
      <p:sp>
        <p:nvSpPr>
          <p:cNvPr id="9" name="fonte-1-cerchio"/>
          <p:cNvSpPr/>
          <p:nvPr/>
        </p:nvSpPr>
        <p:spPr>
          <a:xfrm>
            <a:off x="640080" y="309981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fonte-1-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34" y="3212470"/>
            <a:ext cx="286756" cy="286756"/>
          </a:xfrm>
          <a:prstGeom prst="rect">
            <a:avLst/>
          </a:prstGeom>
        </p:spPr>
      </p:pic>
      <p:sp>
        <p:nvSpPr>
          <p:cNvPr id="11" name="fonte-1-nome"/>
          <p:cNvSpPr txBox="1"/>
          <p:nvPr/>
        </p:nvSpPr>
        <p:spPr>
          <a:xfrm>
            <a:off x="1371600" y="30632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Allegato A, un PDF del 2013</a:t>
            </a:r>
            <a:endParaRPr lang="en-US" sz="1800" dirty="0"/>
          </a:p>
        </p:txBody>
      </p:sp>
      <p:sp>
        <p:nvSpPr>
          <p:cNvPr id="12" name="fonte-1-testo"/>
          <p:cNvSpPr txBox="1"/>
          <p:nvPr/>
        </p:nvSpPr>
        <p:spPr>
          <a:xfrm>
            <a:off x="137160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chiede ancora «originale e fotocopia»</a:t>
            </a:r>
            <a:endParaRPr lang="en-US" sz="1500" dirty="0"/>
          </a:p>
        </p:txBody>
      </p:sp>
      <p:sp>
        <p:nvSpPr>
          <p:cNvPr id="13" name="fonte-2-cerchio"/>
          <p:cNvSpPr/>
          <p:nvPr/>
        </p:nvSpPr>
        <p:spPr>
          <a:xfrm>
            <a:off x="640080" y="383133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fonte-2-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3943990"/>
            <a:ext cx="286756" cy="286756"/>
          </a:xfrm>
          <a:prstGeom prst="rect">
            <a:avLst/>
          </a:prstGeom>
        </p:spPr>
      </p:pic>
      <p:sp>
        <p:nvSpPr>
          <p:cNvPr id="15" name="fonte-2-nome"/>
          <p:cNvSpPr txBox="1"/>
          <p:nvPr/>
        </p:nvSpPr>
        <p:spPr>
          <a:xfrm>
            <a:off x="1371600" y="37947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Questura · Polizia di Stato</a:t>
            </a:r>
            <a:endParaRPr lang="en-US" sz="1800" dirty="0"/>
          </a:p>
        </p:txBody>
      </p:sp>
      <p:sp>
        <p:nvSpPr>
          <p:cNvPr id="16" name="fonte-2-testo"/>
          <p:cNvSpPr txBox="1"/>
          <p:nvPr/>
        </p:nvSpPr>
        <p:spPr>
          <a:xfrm>
            <a:off x="1371600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il permesso di soggiorno</a:t>
            </a:r>
            <a:endParaRPr lang="en-US" sz="1500" dirty="0"/>
          </a:p>
        </p:txBody>
      </p:sp>
      <p:sp>
        <p:nvSpPr>
          <p:cNvPr id="17" name="fonte-3-cerchio"/>
          <p:cNvSpPr/>
          <p:nvPr/>
        </p:nvSpPr>
        <p:spPr>
          <a:xfrm>
            <a:off x="640080" y="456285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fonte-3-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" y="4675510"/>
            <a:ext cx="286756" cy="286756"/>
          </a:xfrm>
          <a:prstGeom prst="rect">
            <a:avLst/>
          </a:prstGeom>
        </p:spPr>
      </p:pic>
      <p:sp>
        <p:nvSpPr>
          <p:cNvPr id="19" name="fonte-3-nome"/>
          <p:cNvSpPr txBox="1"/>
          <p:nvPr/>
        </p:nvSpPr>
        <p:spPr>
          <a:xfrm>
            <a:off x="1371600" y="4526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Agenzia delle Entrate</a:t>
            </a:r>
            <a:endParaRPr lang="en-US" sz="1800" dirty="0"/>
          </a:p>
        </p:txBody>
      </p:sp>
      <p:sp>
        <p:nvSpPr>
          <p:cNvPr id="20" name="fonte-3-testo"/>
          <p:cNvSpPr txBox="1"/>
          <p:nvPr/>
        </p:nvSpPr>
        <p:spPr>
          <a:xfrm>
            <a:off x="137160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il codice fiscale</a:t>
            </a:r>
            <a:endParaRPr lang="en-US" sz="1500" dirty="0"/>
          </a:p>
        </p:txBody>
      </p:sp>
      <p:sp>
        <p:nvSpPr>
          <p:cNvPr id="21" name="fonte-4-cerchio"/>
          <p:cNvSpPr/>
          <p:nvPr/>
        </p:nvSpPr>
        <p:spPr>
          <a:xfrm>
            <a:off x="640080" y="5294376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fonte-4-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34" y="5407030"/>
            <a:ext cx="286756" cy="286756"/>
          </a:xfrm>
          <a:prstGeom prst="rect">
            <a:avLst/>
          </a:prstGeom>
        </p:spPr>
      </p:pic>
      <p:sp>
        <p:nvSpPr>
          <p:cNvPr id="23" name="fonte-4-nome"/>
          <p:cNvSpPr txBox="1"/>
          <p:nvPr/>
        </p:nvSpPr>
        <p:spPr>
          <a:xfrm>
            <a:off x="1371600" y="52578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YesMilano</a:t>
            </a:r>
            <a:endParaRPr lang="en-US" sz="1800" dirty="0"/>
          </a:p>
        </p:txBody>
      </p:sp>
      <p:sp>
        <p:nvSpPr>
          <p:cNvPr id="24" name="fonte-4-testo"/>
          <p:cNvSpPr txBox="1"/>
          <p:nvPr/>
        </p:nvSpPr>
        <p:spPr>
          <a:xfrm>
            <a:off x="1371600" y="5577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la guida per chi arriva</a:t>
            </a:r>
            <a:endParaRPr lang="en-US" sz="1500" dirty="0"/>
          </a:p>
        </p:txBody>
      </p:sp>
      <p:sp>
        <p:nvSpPr>
          <p:cNvPr id="25" name="citazione-box"/>
          <p:cNvSpPr/>
          <p:nvPr/>
        </p:nvSpPr>
        <p:spPr>
          <a:xfrm>
            <a:off x="6263640" y="1783080"/>
            <a:ext cx="5285232" cy="2926080"/>
          </a:xfrm>
          <a:prstGeom prst="roundRect">
            <a:avLst>
              <a:gd name="adj" fmla="val 37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citazione-etichetta"/>
          <p:cNvSpPr txBox="1"/>
          <p:nvPr/>
        </p:nvSpPr>
        <p:spPr>
          <a:xfrm>
            <a:off x="6583680" y="2029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LA FRASE DEL MODULO ONLINE</a:t>
            </a:r>
            <a:endParaRPr lang="en-US" sz="1300" dirty="0"/>
          </a:p>
        </p:txBody>
      </p:sp>
      <p:sp>
        <p:nvSpPr>
          <p:cNvPr id="27" name="citazione"/>
          <p:cNvSpPr txBox="1"/>
          <p:nvPr/>
        </p:nvSpPr>
        <p:spPr>
          <a:xfrm>
            <a:off x="6583680" y="2450592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Il sistema non consente di inviare una nuova dichiarazione di residenza se non si è concluso l'iter della dichiarazione precedentemente inviata.</a:t>
            </a:r>
            <a:endParaRPr lang="en-US" sz="2000" dirty="0"/>
          </a:p>
        </p:txBody>
      </p:sp>
      <p:sp>
        <p:nvSpPr>
          <p:cNvPr id="28" name="citazione-chip"/>
          <p:cNvSpPr/>
          <p:nvPr/>
        </p:nvSpPr>
        <p:spPr>
          <a:xfrm>
            <a:off x="6583680" y="4114800"/>
            <a:ext cx="3847795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citazione-chip-testo"/>
          <p:cNvSpPr txBox="1"/>
          <p:nvPr/>
        </p:nvSpPr>
        <p:spPr>
          <a:xfrm>
            <a:off x="6583680" y="4114800"/>
            <a:ext cx="3847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Comune di Milano · modulo di residenza online</a:t>
            </a:r>
            <a:endParaRPr lang="en-US" sz="1200" dirty="0"/>
          </a:p>
        </p:txBody>
      </p:sp>
      <p:sp>
        <p:nvSpPr>
          <p:cNvPr id="30" name="conclusione"/>
          <p:cNvSpPr txBox="1"/>
          <p:nvPr/>
        </p:nvSpPr>
        <p:spPr>
          <a:xfrm>
            <a:off x="6263640" y="489204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La domanda si fa online, una alla volta: deve partire completa.</a:t>
            </a:r>
            <a:endParaRPr lang="en-US" sz="2400" dirty="0"/>
          </a:p>
        </p:txBody>
      </p:sp>
      <p:sp>
        <p:nvSpPr>
          <p:cNvPr id="31" name="conclusione-nota"/>
          <p:cNvSpPr txBox="1"/>
          <p:nvPr/>
        </p:nvSpPr>
        <p:spPr>
          <a:xfrm>
            <a:off x="6263640" y="568756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«Deve partire completa» è la nostra conclusione da questa frase, non parole del Comune.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LA PERSONA E IL MOMENTO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La trova dove passa già</a:t>
            </a:r>
            <a:endParaRPr lang="en-US" sz="3600" dirty="0"/>
          </a:p>
        </p:txBody>
      </p:sp>
      <p:sp>
        <p:nvSpPr>
          <p:cNvPr id="4" name="persona-box"/>
          <p:cNvSpPr/>
          <p:nvPr/>
        </p:nvSpPr>
        <p:spPr>
          <a:xfrm>
            <a:off x="640080" y="1783080"/>
            <a:ext cx="3657600" cy="4114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ersona-cerchio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ersona-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98218"/>
            <a:ext cx="358445" cy="358445"/>
          </a:xfrm>
          <a:prstGeom prst="rect">
            <a:avLst/>
          </a:prstGeom>
        </p:spPr>
      </p:pic>
      <p:sp>
        <p:nvSpPr>
          <p:cNvPr id="7" name="persona-etichetta"/>
          <p:cNvSpPr txBox="1"/>
          <p:nvPr/>
        </p:nvSpPr>
        <p:spPr>
          <a:xfrm>
            <a:off x="173736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100" kern="0" dirty="0">
                <a:solidFill>
                  <a:schemeClr val="accent4"/>
                </a:solidFill>
              </a:rPr>
              <a:t>PERSONA INVENTATA</a:t>
            </a:r>
            <a:endParaRPr lang="en-US" sz="1300" dirty="0"/>
          </a:p>
        </p:txBody>
      </p:sp>
      <p:sp>
        <p:nvSpPr>
          <p:cNvPr id="8" name="persona-titolo"/>
          <p:cNvSpPr txBox="1"/>
          <p:nvPr/>
        </p:nvSpPr>
        <p:spPr>
          <a:xfrm>
            <a:off x="91440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Arrivata dal Cairo il mese scorso, per lavoro</a:t>
            </a:r>
            <a:endParaRPr lang="en-US" sz="2400" dirty="0"/>
          </a:p>
        </p:txBody>
      </p:sp>
      <p:sp>
        <p:nvSpPr>
          <p:cNvPr id="9" name="persona-elenco"/>
          <p:cNvSpPr txBox="1"/>
          <p:nvPr/>
        </p:nvSpPr>
        <p:spPr>
          <a:xfrm>
            <a:off x="914400" y="40690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Parla arabo, poco italiano</a:t>
            </a:r>
            <a:endParaRPr lang="en-US" sz="1600" dirty="0"/>
          </a:p>
          <a:p>
            <a:pPr marL="203200" indent="-2032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Aspetta il primo permesso di soggiorno</a:t>
            </a:r>
            <a:endParaRPr lang="en-US" sz="1600" dirty="0"/>
          </a:p>
          <a:p>
            <a:pPr marL="203200" indent="-2032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Deve chiedere la residenza: una domanda online al Comune</a:t>
            </a:r>
            <a:endParaRPr lang="en-US" sz="1600" dirty="0"/>
          </a:p>
        </p:txBody>
      </p:sp>
      <p:sp>
        <p:nvSpPr>
          <p:cNvPr id="10" name="facsimile-cornice"/>
          <p:cNvSpPr/>
          <p:nvPr/>
        </p:nvSpPr>
        <p:spPr>
          <a:xfrm>
            <a:off x="4663440" y="1783080"/>
            <a:ext cx="1980088" cy="4114800"/>
          </a:xfrm>
          <a:prstGeom prst="roundRect">
            <a:avLst>
              <a:gd name="adj" fmla="val 73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facsimile-schermata" descr="Schermata dell'app, scheda Per il Comune: fac-simile della mail di conferma e della guida YesMilano con la riga OneVis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56232"/>
            <a:ext cx="1833784" cy="3968496"/>
          </a:xfrm>
          <a:prstGeom prst="rect">
            <a:avLst/>
          </a:prstGeom>
        </p:spPr>
      </p:pic>
      <p:sp>
        <p:nvSpPr>
          <p:cNvPr id="12" name="canali-titolo"/>
          <p:cNvSpPr txBox="1"/>
          <p:nvPr/>
        </p:nvSpPr>
        <p:spPr>
          <a:xfrm>
            <a:off x="7009288" y="1783080"/>
            <a:ext cx="454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Una riga con un link, dove arriva già</a:t>
            </a:r>
            <a:endParaRPr lang="en-US" sz="1900" dirty="0"/>
          </a:p>
        </p:txBody>
      </p:sp>
      <p:sp>
        <p:nvSpPr>
          <p:cNvPr id="13" name="canale-0-cerchio"/>
          <p:cNvSpPr/>
          <p:nvPr/>
        </p:nvSpPr>
        <p:spPr>
          <a:xfrm>
            <a:off x="7009288" y="2395728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canale-0-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942" y="2508382"/>
            <a:ext cx="286756" cy="286756"/>
          </a:xfrm>
          <a:prstGeom prst="rect">
            <a:avLst/>
          </a:prstGeom>
        </p:spPr>
      </p:pic>
      <p:sp>
        <p:nvSpPr>
          <p:cNvPr id="15" name="canale-0-nome"/>
          <p:cNvSpPr txBox="1"/>
          <p:nvPr/>
        </p:nvSpPr>
        <p:spPr>
          <a:xfrm>
            <a:off x="7722520" y="2377440"/>
            <a:ext cx="382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Guida YesMilano</a:t>
            </a:r>
            <a:endParaRPr lang="en-US" sz="1700" dirty="0"/>
          </a:p>
        </p:txBody>
      </p:sp>
      <p:sp>
        <p:nvSpPr>
          <p:cNvPr id="16" name="canale-0-testo"/>
          <p:cNvSpPr txBox="1"/>
          <p:nvPr/>
        </p:nvSpPr>
        <p:spPr>
          <a:xfrm>
            <a:off x="7722520" y="2706624"/>
            <a:ext cx="3829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apre la residenza dall'estero, nella sua lingua</a:t>
            </a:r>
            <a:endParaRPr lang="en-US" sz="1500" dirty="0"/>
          </a:p>
        </p:txBody>
      </p:sp>
      <p:sp>
        <p:nvSpPr>
          <p:cNvPr id="17" name="canale-1-cerchio"/>
          <p:cNvSpPr/>
          <p:nvPr/>
        </p:nvSpPr>
        <p:spPr>
          <a:xfrm>
            <a:off x="7009288" y="3264408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canale-1-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942" y="3377062"/>
            <a:ext cx="286756" cy="286756"/>
          </a:xfrm>
          <a:prstGeom prst="rect">
            <a:avLst/>
          </a:prstGeom>
        </p:spPr>
      </p:pic>
      <p:sp>
        <p:nvSpPr>
          <p:cNvPr id="19" name="canale-1-nome"/>
          <p:cNvSpPr txBox="1"/>
          <p:nvPr/>
        </p:nvSpPr>
        <p:spPr>
          <a:xfrm>
            <a:off x="7722520" y="3246120"/>
            <a:ext cx="382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Mail di conferma appuntamento</a:t>
            </a:r>
            <a:endParaRPr lang="en-US" sz="1700" dirty="0"/>
          </a:p>
        </p:txBody>
      </p:sp>
      <p:sp>
        <p:nvSpPr>
          <p:cNvPr id="20" name="canale-1-testo"/>
          <p:cNvSpPr txBox="1"/>
          <p:nvPr/>
        </p:nvSpPr>
        <p:spPr>
          <a:xfrm>
            <a:off x="7722520" y="3575304"/>
            <a:ext cx="3829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OneVisit si apre con servizio, sede e data</a:t>
            </a:r>
            <a:endParaRPr lang="en-US" sz="1500" dirty="0"/>
          </a:p>
        </p:txBody>
      </p:sp>
      <p:sp>
        <p:nvSpPr>
          <p:cNvPr id="21" name="canale-2-cerchio"/>
          <p:cNvSpPr/>
          <p:nvPr/>
        </p:nvSpPr>
        <p:spPr>
          <a:xfrm>
            <a:off x="7009288" y="4133088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canale-2-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1942" y="4245742"/>
            <a:ext cx="286756" cy="286756"/>
          </a:xfrm>
          <a:prstGeom prst="rect">
            <a:avLst/>
          </a:prstGeom>
        </p:spPr>
      </p:pic>
      <p:sp>
        <p:nvSpPr>
          <p:cNvPr id="23" name="canale-2-nome"/>
          <p:cNvSpPr txBox="1"/>
          <p:nvPr/>
        </p:nvSpPr>
        <p:spPr>
          <a:xfrm>
            <a:off x="7722520" y="4114800"/>
            <a:ext cx="382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Mail di benvenuto ai residenti</a:t>
            </a:r>
            <a:endParaRPr lang="en-US" sz="1700" dirty="0"/>
          </a:p>
        </p:txBody>
      </p:sp>
      <p:sp>
        <p:nvSpPr>
          <p:cNvPr id="24" name="canale-2-testo"/>
          <p:cNvSpPr txBox="1"/>
          <p:nvPr/>
        </p:nvSpPr>
        <p:spPr>
          <a:xfrm>
            <a:off x="7722520" y="4443984"/>
            <a:ext cx="3829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la stessa riga, con lo stesso link</a:t>
            </a:r>
            <a:endParaRPr lang="en-US" sz="1500" dirty="0"/>
          </a:p>
        </p:txBody>
      </p:sp>
      <p:sp>
        <p:nvSpPr>
          <p:cNvPr id="25" name="privacy-box"/>
          <p:cNvSpPr/>
          <p:nvPr/>
        </p:nvSpPr>
        <p:spPr>
          <a:xfrm>
            <a:off x="7009288" y="5074920"/>
            <a:ext cx="4542328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privacy"/>
          <p:cNvSpPr txBox="1"/>
          <p:nvPr/>
        </p:nvSpPr>
        <p:spPr>
          <a:xfrm>
            <a:off x="7192168" y="5138928"/>
            <a:ext cx="4176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chemeClr val="accent2"/>
                </a:solidFill>
              </a:rPr>
              <a:t>Nel link solo servizio, sede, data e lingua: nessun dato personale.</a:t>
            </a:r>
            <a:endParaRPr lang="en-US" sz="1500" dirty="0"/>
          </a:p>
        </p:txBody>
      </p:sp>
      <p:sp>
        <p:nvSpPr>
          <p:cNvPr id="27" name="nota-fonti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Al centro, la scheda «Per il Comune» dell'app: la mail e la pagina YesMilano sono fac-simile, non mail o pagine reali.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LA DEMO · VALORE PER IL CITTADINO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Chiede solo ciò che cambia la lista</a:t>
            </a:r>
            <a:endParaRPr lang="en-US" sz="3600" dirty="0"/>
          </a:p>
        </p:txBody>
      </p:sp>
      <p:sp>
        <p:nvSpPr>
          <p:cNvPr id="4" name="intro"/>
          <p:cNvSpPr txBox="1"/>
          <p:nvPr/>
        </p:nvSpPr>
        <p:spPr>
          <a:xfrm>
            <a:off x="640080" y="1783080"/>
            <a:ext cx="621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Lei scrive una frase in arabo. Claude capisce che le serve la residenza e chiede solo tre cose:</a:t>
            </a:r>
            <a:endParaRPr lang="en-US" sz="1800" dirty="0"/>
          </a:p>
        </p:txBody>
      </p:sp>
      <p:sp>
        <p:nvSpPr>
          <p:cNvPr id="5" name="domanda-0-cerchio"/>
          <p:cNvSpPr/>
          <p:nvPr/>
        </p:nvSpPr>
        <p:spPr>
          <a:xfrm>
            <a:off x="640080" y="26700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manda-0-numero"/>
          <p:cNvSpPr txBox="1"/>
          <p:nvPr/>
        </p:nvSpPr>
        <p:spPr>
          <a:xfrm>
            <a:off x="64008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domanda-0-titolo"/>
          <p:cNvSpPr txBox="1"/>
          <p:nvPr/>
        </p:nvSpPr>
        <p:spPr>
          <a:xfrm>
            <a:off x="1243584" y="2651760"/>
            <a:ext cx="561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Il permesso di soggiorno</a:t>
            </a:r>
            <a:endParaRPr lang="en-US" sz="1700" dirty="0"/>
          </a:p>
        </p:txBody>
      </p:sp>
      <p:sp>
        <p:nvSpPr>
          <p:cNvPr id="8" name="domanda-0-testo"/>
          <p:cNvSpPr txBox="1"/>
          <p:nvPr/>
        </p:nvSpPr>
        <p:spPr>
          <a:xfrm>
            <a:off x="1243584" y="2953512"/>
            <a:ext cx="5616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valido, in rinnovo o in attesa del primo</a:t>
            </a:r>
            <a:endParaRPr lang="en-US" sz="1400" dirty="0"/>
          </a:p>
        </p:txBody>
      </p:sp>
      <p:sp>
        <p:nvSpPr>
          <p:cNvPr id="9" name="domanda-1-cerchio"/>
          <p:cNvSpPr/>
          <p:nvPr/>
        </p:nvSpPr>
        <p:spPr>
          <a:xfrm>
            <a:off x="640080" y="33101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manda-1-numero"/>
          <p:cNvSpPr txBox="1"/>
          <p:nvPr/>
        </p:nvSpPr>
        <p:spPr>
          <a:xfrm>
            <a:off x="64008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domanda-1-titolo"/>
          <p:cNvSpPr txBox="1"/>
          <p:nvPr/>
        </p:nvSpPr>
        <p:spPr>
          <a:xfrm>
            <a:off x="1243584" y="3291840"/>
            <a:ext cx="561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Da sola o con la famiglia</a:t>
            </a:r>
            <a:endParaRPr lang="en-US" sz="1700" dirty="0"/>
          </a:p>
        </p:txBody>
      </p:sp>
      <p:sp>
        <p:nvSpPr>
          <p:cNvPr id="12" name="domanda-1-testo"/>
          <p:cNvSpPr txBox="1"/>
          <p:nvPr/>
        </p:nvSpPr>
        <p:spPr>
          <a:xfrm>
            <a:off x="1243584" y="3593592"/>
            <a:ext cx="5616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cambiano i documenti da caricare</a:t>
            </a:r>
            <a:endParaRPr lang="en-US" sz="1400" dirty="0"/>
          </a:p>
        </p:txBody>
      </p:sp>
      <p:sp>
        <p:nvSpPr>
          <p:cNvPr id="13" name="domanda-2-cerchio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manda-2-numero"/>
          <p:cNvSpPr txBox="1"/>
          <p:nvPr/>
        </p:nvSpPr>
        <p:spPr>
          <a:xfrm>
            <a:off x="64008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domanda-2-titolo"/>
          <p:cNvSpPr txBox="1"/>
          <p:nvPr/>
        </p:nvSpPr>
        <p:spPr>
          <a:xfrm>
            <a:off x="1243584" y="3931920"/>
            <a:ext cx="561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La casa</a:t>
            </a:r>
            <a:endParaRPr lang="en-US" sz="1700" dirty="0"/>
          </a:p>
        </p:txBody>
      </p:sp>
      <p:sp>
        <p:nvSpPr>
          <p:cNvPr id="16" name="domanda-2-testo"/>
          <p:cNvSpPr txBox="1"/>
          <p:nvPr/>
        </p:nvSpPr>
        <p:spPr>
          <a:xfrm>
            <a:off x="1243584" y="4233672"/>
            <a:ext cx="5616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in affitto: il contratto è già registrato?</a:t>
            </a:r>
            <a:endParaRPr lang="en-US" sz="1400" dirty="0"/>
          </a:p>
        </p:txBody>
      </p:sp>
      <p:sp>
        <p:nvSpPr>
          <p:cNvPr id="17" name="risultato-0"/>
          <p:cNvSpPr/>
          <p:nvPr/>
        </p:nvSpPr>
        <p:spPr>
          <a:xfrm>
            <a:off x="640080" y="4617720"/>
            <a:ext cx="1951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isultato-0-numero"/>
          <p:cNvSpPr txBox="1"/>
          <p:nvPr/>
        </p:nvSpPr>
        <p:spPr>
          <a:xfrm>
            <a:off x="822960" y="4681728"/>
            <a:ext cx="158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</a:t>
            </a:r>
            <a:endParaRPr lang="en-US" sz="4000" dirty="0"/>
          </a:p>
        </p:txBody>
      </p:sp>
      <p:sp>
        <p:nvSpPr>
          <p:cNvPr id="19" name="risultato-0-etichetta"/>
          <p:cNvSpPr txBox="1"/>
          <p:nvPr/>
        </p:nvSpPr>
        <p:spPr>
          <a:xfrm>
            <a:off x="822960" y="5285232"/>
            <a:ext cx="158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voci verificate, con la frase della pagina</a:t>
            </a:r>
            <a:endParaRPr lang="en-US" sz="1300" dirty="0"/>
          </a:p>
        </p:txBody>
      </p:sp>
      <p:sp>
        <p:nvSpPr>
          <p:cNvPr id="20" name="risultato-1"/>
          <p:cNvSpPr/>
          <p:nvPr/>
        </p:nvSpPr>
        <p:spPr>
          <a:xfrm>
            <a:off x="2774320" y="4617720"/>
            <a:ext cx="1951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isultato-1-numero"/>
          <p:cNvSpPr txBox="1"/>
          <p:nvPr/>
        </p:nvSpPr>
        <p:spPr>
          <a:xfrm>
            <a:off x="2957200" y="4681728"/>
            <a:ext cx="158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9</a:t>
            </a:r>
            <a:endParaRPr lang="en-US" sz="4000" dirty="0"/>
          </a:p>
        </p:txBody>
      </p:sp>
      <p:sp>
        <p:nvSpPr>
          <p:cNvPr id="22" name="risultato-1-etichetta"/>
          <p:cNvSpPr txBox="1"/>
          <p:nvPr/>
        </p:nvSpPr>
        <p:spPr>
          <a:xfrm>
            <a:off x="2957200" y="5285232"/>
            <a:ext cx="158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file da caricare, sezione per sezione</a:t>
            </a:r>
            <a:endParaRPr lang="en-US" sz="1300" dirty="0"/>
          </a:p>
        </p:txBody>
      </p:sp>
      <p:sp>
        <p:nvSpPr>
          <p:cNvPr id="23" name="risultato-2"/>
          <p:cNvSpPr/>
          <p:nvPr/>
        </p:nvSpPr>
        <p:spPr>
          <a:xfrm>
            <a:off x="4908560" y="4617720"/>
            <a:ext cx="1951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isultato-2-numero"/>
          <p:cNvSpPr txBox="1"/>
          <p:nvPr/>
        </p:nvSpPr>
        <p:spPr>
          <a:xfrm>
            <a:off x="5091440" y="4681728"/>
            <a:ext cx="158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PDF</a:t>
            </a:r>
            <a:endParaRPr lang="en-US" sz="4000" dirty="0"/>
          </a:p>
        </p:txBody>
      </p:sp>
      <p:sp>
        <p:nvSpPr>
          <p:cNvPr id="25" name="risultato-2-etichetta"/>
          <p:cNvSpPr txBox="1"/>
          <p:nvPr/>
        </p:nvSpPr>
        <p:spPr>
          <a:xfrm>
            <a:off x="5091440" y="5285232"/>
            <a:ext cx="158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il dossier, in italiano e arabo</a:t>
            </a:r>
            <a:endParaRPr lang="en-US" sz="1300" dirty="0"/>
          </a:p>
        </p:txBody>
      </p:sp>
      <p:sp>
        <p:nvSpPr>
          <p:cNvPr id="26" name="lista-cornice"/>
          <p:cNvSpPr/>
          <p:nvPr/>
        </p:nvSpPr>
        <p:spPr>
          <a:xfrm>
            <a:off x="7271400" y="1783080"/>
            <a:ext cx="1980088" cy="4114800"/>
          </a:xfrm>
          <a:prstGeom prst="roundRect">
            <a:avLst>
              <a:gd name="adj" fmla="val 73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lista-schermata" descr="Schermata dell'app in arabo: la lista è pronta, 24 requisiti verificati e 9 file da caric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4552" y="1856232"/>
            <a:ext cx="1833784" cy="3968496"/>
          </a:xfrm>
          <a:prstGeom prst="rect">
            <a:avLst/>
          </a:prstGeom>
        </p:spPr>
      </p:pic>
      <p:sp>
        <p:nvSpPr>
          <p:cNvPr id="28" name="file-cornice"/>
          <p:cNvSpPr/>
          <p:nvPr/>
        </p:nvSpPr>
        <p:spPr>
          <a:xfrm>
            <a:off x="9571528" y="1783080"/>
            <a:ext cx="1980088" cy="4114800"/>
          </a:xfrm>
          <a:prstGeom prst="roundRect">
            <a:avLst>
              <a:gd name="adj" fmla="val 73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file-schermata" descr="Schermata dell'app in arabo: i 9 file da caricare nella domanda on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680" y="1856232"/>
            <a:ext cx="1833784" cy="3968496"/>
          </a:xfrm>
          <a:prstGeom prst="rect">
            <a:avLst/>
          </a:prstGeom>
        </p:spPr>
      </p:pic>
      <p:sp>
        <p:nvSpPr>
          <p:cNvPr id="30" name="nota-fonti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Schermate della replica dimostrativa dell'app (senza chiave: frasi registrate, dati e fonti reali); dal vivo risponde Claude. Checklist, file e fonti vengono dai dati verificati.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DOVE LAVORA CLAUDE · FIDUCIA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Mai un requisito a memoria</a:t>
            </a:r>
            <a:endParaRPr lang="en-US" sz="3600" dirty="0"/>
          </a:p>
        </p:txBody>
      </p:sp>
      <p:sp>
        <p:nvSpPr>
          <p:cNvPr id="4" name="traccia-cornice"/>
          <p:cNvSpPr/>
          <p:nvPr/>
        </p:nvSpPr>
        <p:spPr>
          <a:xfrm>
            <a:off x="640080" y="1783080"/>
            <a:ext cx="1980088" cy="4114800"/>
          </a:xfrm>
          <a:prstGeom prst="roundRect">
            <a:avLst>
              <a:gd name="adj" fmla="val 73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traccia-schermata" descr="Schermata dell'app: le fonti lette, il controllo automatico e le chiamate agli strumen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232"/>
            <a:ext cx="1833784" cy="3968496"/>
          </a:xfrm>
          <a:prstGeom prst="rect">
            <a:avLst/>
          </a:prstGeom>
        </p:spPr>
      </p:pic>
      <p:sp>
        <p:nvSpPr>
          <p:cNvPr id="6" name="ruolo-0"/>
          <p:cNvSpPr/>
          <p:nvPr/>
        </p:nvSpPr>
        <p:spPr>
          <a:xfrm>
            <a:off x="3031648" y="1783080"/>
            <a:ext cx="8519968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uolo-0-cerchio"/>
          <p:cNvSpPr/>
          <p:nvPr/>
        </p:nvSpPr>
        <p:spPr>
          <a:xfrm>
            <a:off x="3260248" y="2002536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ruolo-0-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19" y="2135307"/>
            <a:ext cx="337962" cy="337962"/>
          </a:xfrm>
          <a:prstGeom prst="rect">
            <a:avLst/>
          </a:prstGeom>
        </p:spPr>
      </p:pic>
      <p:sp>
        <p:nvSpPr>
          <p:cNvPr id="9" name="ruolo-0-titolo"/>
          <p:cNvSpPr txBox="1"/>
          <p:nvPr/>
        </p:nvSpPr>
        <p:spPr>
          <a:xfrm>
            <a:off x="4083208" y="1938528"/>
            <a:ext cx="723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Claude decide</a:t>
            </a:r>
            <a:endParaRPr lang="en-US" sz="2000" dirty="0"/>
          </a:p>
        </p:txBody>
      </p:sp>
      <p:sp>
        <p:nvSpPr>
          <p:cNvPr id="10" name="ruolo-0-testo"/>
          <p:cNvSpPr txBox="1"/>
          <p:nvPr/>
        </p:nvSpPr>
        <p:spPr>
          <a:xfrm>
            <a:off x="4083208" y="2313432"/>
            <a:ext cx="723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Capisce il caso da una frase in qualsiasi lingua, sceglie le domande, mette in ordine le prossime tre azioni, traduce i testi che mancano.</a:t>
            </a:r>
            <a:endParaRPr lang="en-US" sz="1500" dirty="0"/>
          </a:p>
        </p:txBody>
      </p:sp>
      <p:sp>
        <p:nvSpPr>
          <p:cNvPr id="11" name="ruolo-1"/>
          <p:cNvSpPr/>
          <p:nvPr/>
        </p:nvSpPr>
        <p:spPr>
          <a:xfrm>
            <a:off x="3031648" y="3191256"/>
            <a:ext cx="8519968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ruolo-1-cerchio"/>
          <p:cNvSpPr/>
          <p:nvPr/>
        </p:nvSpPr>
        <p:spPr>
          <a:xfrm>
            <a:off x="3260248" y="341071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uolo-1-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019" y="3543483"/>
            <a:ext cx="337962" cy="337962"/>
          </a:xfrm>
          <a:prstGeom prst="rect">
            <a:avLst/>
          </a:prstGeom>
        </p:spPr>
      </p:pic>
      <p:sp>
        <p:nvSpPr>
          <p:cNvPr id="14" name="ruolo-1-titolo"/>
          <p:cNvSpPr txBox="1"/>
          <p:nvPr/>
        </p:nvSpPr>
        <p:spPr>
          <a:xfrm>
            <a:off x="4083208" y="3346704"/>
            <a:ext cx="723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Il codice controlla, dai dati verificati</a:t>
            </a:r>
            <a:endParaRPr lang="en-US" sz="2000" dirty="0"/>
          </a:p>
        </p:txBody>
      </p:sp>
      <p:sp>
        <p:nvSpPr>
          <p:cNvPr id="15" name="ruolo-1-testo"/>
          <p:cNvSpPr txBox="1"/>
          <p:nvPr/>
        </p:nvSpPr>
        <p:spPr>
          <a:xfrm>
            <a:off x="4083208" y="3721608"/>
            <a:ext cx="723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110 voci verificate parola per parola su 16 pagine ufficiali salvate. Blocca le risposte senza fonte o con «sei in regola» (7 lingue) e le azioni fuori dalla checklist. Se non sa, lo dice.</a:t>
            </a:r>
            <a:endParaRPr lang="en-US" sz="1500" dirty="0"/>
          </a:p>
        </p:txBody>
      </p:sp>
      <p:sp>
        <p:nvSpPr>
          <p:cNvPr id="16" name="ruolo-2"/>
          <p:cNvSpPr/>
          <p:nvPr/>
        </p:nvSpPr>
        <p:spPr>
          <a:xfrm>
            <a:off x="3031648" y="4599432"/>
            <a:ext cx="8519968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uolo-2-cerchio"/>
          <p:cNvSpPr/>
          <p:nvPr/>
        </p:nvSpPr>
        <p:spPr>
          <a:xfrm>
            <a:off x="3260248" y="48188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ruolo-2-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019" y="4951659"/>
            <a:ext cx="337962" cy="337962"/>
          </a:xfrm>
          <a:prstGeom prst="rect">
            <a:avLst/>
          </a:prstGeom>
        </p:spPr>
      </p:pic>
      <p:sp>
        <p:nvSpPr>
          <p:cNvPr id="19" name="ruolo-2-titolo"/>
          <p:cNvSpPr txBox="1"/>
          <p:nvPr/>
        </p:nvSpPr>
        <p:spPr>
          <a:xfrm>
            <a:off x="4083208" y="4754880"/>
            <a:ext cx="723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Una persona decide</a:t>
            </a:r>
            <a:endParaRPr lang="en-US" sz="2000" dirty="0"/>
          </a:p>
        </p:txBody>
      </p:sp>
      <p:sp>
        <p:nvSpPr>
          <p:cNvPr id="20" name="ruolo-2-testo"/>
          <p:cNvSpPr txBox="1"/>
          <p:nvPr/>
        </p:nvSpPr>
        <p:spPr>
          <a:xfrm>
            <a:off x="4083208" y="5129784"/>
            <a:ext cx="723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Allo sportello decide l'operatore: OneVisit non dice mai che i documenti sono validi. Ogni citazione è stata verificata da una persona sulla pagina salvata.</a:t>
            </a:r>
            <a:endParaRPr lang="en-US" sz="1500" dirty="0"/>
          </a:p>
        </p:txBody>
      </p:sp>
      <p:sp>
        <p:nvSpPr>
          <p:cNvPr id="21" name="nota-fonti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A sinistra, sotto ogni risposta dell'app: le fonti lette, il controllo automatico («ogni requisito ha una fonte») e le chiamate agli strumenti.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VALORE PER IL COMUNE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Le segnalazioni correggono le pagine</a:t>
            </a:r>
            <a:endParaRPr lang="en-US" sz="3600" dirty="0"/>
          </a:p>
        </p:txBody>
      </p:sp>
      <p:sp>
        <p:nvSpPr>
          <p:cNvPr id="4" name="passo-0-cerchio"/>
          <p:cNvSpPr/>
          <p:nvPr/>
        </p:nvSpPr>
        <p:spPr>
          <a:xfrm>
            <a:off x="640080" y="18013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so-0-numero"/>
          <p:cNvSpPr txBox="1"/>
          <p:nvPr/>
        </p:nvSpPr>
        <p:spPr>
          <a:xfrm>
            <a:off x="64008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so-0-titolo"/>
          <p:cNvSpPr txBox="1"/>
          <p:nvPr/>
        </p:nvSpPr>
        <p:spPr>
          <a:xfrm>
            <a:off x="1243584" y="1783080"/>
            <a:ext cx="5248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Segnalazione anonima dopo l'appuntamento</a:t>
            </a:r>
            <a:endParaRPr lang="en-US" sz="1800" dirty="0"/>
          </a:p>
        </p:txBody>
      </p:sp>
      <p:sp>
        <p:nvSpPr>
          <p:cNvPr id="7" name="passo-0-testo"/>
          <p:cNvSpPr txBox="1"/>
          <p:nvPr/>
        </p:nvSpPr>
        <p:spPr>
          <a:xfrm>
            <a:off x="1243584" y="21122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Il codice toglie email e date prima che Claude legga.</a:t>
            </a:r>
            <a:endParaRPr lang="en-US" sz="1400" dirty="0"/>
          </a:p>
        </p:txBody>
      </p:sp>
      <p:sp>
        <p:nvSpPr>
          <p:cNvPr id="8" name="passo-1-cerchio"/>
          <p:cNvSpPr/>
          <p:nvPr/>
        </p:nvSpPr>
        <p:spPr>
          <a:xfrm>
            <a:off x="640080" y="2487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so-1-numero"/>
          <p:cNvSpPr txBox="1"/>
          <p:nvPr/>
        </p:nvSpPr>
        <p:spPr>
          <a:xfrm>
            <a:off x="6400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asso-1-titolo"/>
          <p:cNvSpPr txBox="1"/>
          <p:nvPr/>
        </p:nvSpPr>
        <p:spPr>
          <a:xfrm>
            <a:off x="1243584" y="2468880"/>
            <a:ext cx="5248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Claude classifica e scrive la bozza</a:t>
            </a:r>
            <a:endParaRPr lang="en-US" sz="1800" dirty="0"/>
          </a:p>
        </p:txBody>
      </p:sp>
      <p:sp>
        <p:nvSpPr>
          <p:cNvPr id="11" name="passo-1-testo"/>
          <p:cNvSpPr txBox="1"/>
          <p:nvPr/>
        </p:nvSpPr>
        <p:spPr>
          <a:xfrm>
            <a:off x="1243584" y="27980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Da 5 segnalazioni simili, con la frase della fonte.</a:t>
            </a:r>
            <a:endParaRPr lang="en-US" sz="1400" dirty="0"/>
          </a:p>
        </p:txBody>
      </p:sp>
      <p:sp>
        <p:nvSpPr>
          <p:cNvPr id="12" name="passo-2-cerchio"/>
          <p:cNvSpPr/>
          <p:nvPr/>
        </p:nvSpPr>
        <p:spPr>
          <a:xfrm>
            <a:off x="640080" y="3172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sso-2-numero"/>
          <p:cNvSpPr txBox="1"/>
          <p:nvPr/>
        </p:nvSpPr>
        <p:spPr>
          <a:xfrm>
            <a:off x="64008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asso-2-titolo"/>
          <p:cNvSpPr txBox="1"/>
          <p:nvPr/>
        </p:nvSpPr>
        <p:spPr>
          <a:xfrm>
            <a:off x="1243584" y="3154680"/>
            <a:ext cx="5248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Un funzionario approva</a:t>
            </a:r>
            <a:endParaRPr lang="en-US" sz="1800" dirty="0"/>
          </a:p>
        </p:txBody>
      </p:sp>
      <p:sp>
        <p:nvSpPr>
          <p:cNvPr id="15" name="passo-2-testo"/>
          <p:cNvSpPr txBox="1"/>
          <p:nvPr/>
        </p:nvSpPr>
        <p:spPr>
          <a:xfrm>
            <a:off x="1243584" y="34838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Nessuna pagina cambia senza una persona.</a:t>
            </a:r>
            <a:endParaRPr lang="en-US" sz="1400" dirty="0"/>
          </a:p>
        </p:txBody>
      </p:sp>
      <p:sp>
        <p:nvSpPr>
          <p:cNvPr id="16" name="lacuna-box"/>
          <p:cNvSpPr/>
          <p:nvPr/>
        </p:nvSpPr>
        <p:spPr>
          <a:xfrm>
            <a:off x="640080" y="3858768"/>
            <a:ext cx="5852160" cy="713232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lacuna"/>
          <p:cNvSpPr txBox="1"/>
          <p:nvPr/>
        </p:nvSpPr>
        <p:spPr>
          <a:xfrm>
            <a:off x="822960" y="38953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La prima lacuna l'abbiamo trovata noi: l'elenco ufficiale non dice cosa serve a chi aspetta il primo permesso per studio.</a:t>
            </a:r>
            <a:endParaRPr lang="en-US" sz="1400" dirty="0"/>
          </a:p>
        </p:txBody>
      </p:sp>
      <p:sp>
        <p:nvSpPr>
          <p:cNvPr id="18" name="stima-box"/>
          <p:cNvSpPr/>
          <p:nvPr/>
        </p:nvSpPr>
        <p:spPr>
          <a:xfrm>
            <a:off x="640080" y="4690872"/>
            <a:ext cx="5852160" cy="1298448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ima-badge"/>
          <p:cNvSpPr/>
          <p:nvPr/>
        </p:nvSpPr>
        <p:spPr>
          <a:xfrm>
            <a:off x="822960" y="4791456"/>
            <a:ext cx="1965960" cy="256032"/>
          </a:xfrm>
          <a:prstGeom prst="roundRect">
            <a:avLst>
              <a:gd name="adj" fmla="val 21429"/>
            </a:avLst>
          </a:prstGeom>
          <a:solidFill>
            <a:schemeClr val="accent5">
              <a:alpha val="2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tima-badge-testo"/>
          <p:cNvSpPr txBox="1"/>
          <p:nvPr/>
        </p:nvSpPr>
        <p:spPr>
          <a:xfrm>
            <a:off x="822960" y="47914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STIMA, non un risultato</a:t>
            </a:r>
            <a:endParaRPr lang="en-US" sz="1100" dirty="0"/>
          </a:p>
        </p:txBody>
      </p:sp>
      <p:sp>
        <p:nvSpPr>
          <p:cNvPr id="21" name="stima-valore"/>
          <p:cNvSpPr txBox="1"/>
          <p:nvPr/>
        </p:nvSpPr>
        <p:spPr>
          <a:xfrm>
            <a:off x="82296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circa 1.000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  secondi tentativi evitati all'anno</a:t>
            </a:r>
            <a:endParaRPr lang="en-US" sz="1400" dirty="0"/>
          </a:p>
        </p:txBody>
      </p:sp>
      <p:sp>
        <p:nvSpPr>
          <p:cNvPr id="22" name="stima-formula"/>
          <p:cNvSpPr txBox="1"/>
          <p:nvPr/>
        </p:nvSpPr>
        <p:spPr>
          <a:xfrm>
            <a:off x="822960" y="54498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(19.755 iscrizioni dall'estero × 20% che ripresenta la domanda + 27.184 da altri Comuni × 10% che ripresenta la dichiarazione) × 30% che usa OneVisit × 50% di secondi tentativi evitati. Iscrizioni 2024: ds1959; le quote sono ipotesi da misurare.</a:t>
            </a:r>
            <a:endParaRPr lang="en-US" sz="1100" dirty="0"/>
          </a:p>
        </p:txBody>
      </p:sp>
      <p:sp>
        <p:nvSpPr>
          <p:cNvPr id="23" name="bozza-cornice"/>
          <p:cNvSpPr/>
          <p:nvPr/>
        </p:nvSpPr>
        <p:spPr>
          <a:xfrm>
            <a:off x="6988759" y="1746504"/>
            <a:ext cx="4599432" cy="372530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bozza-schermata" descr="Schermata della scheda Per il Comune: 9 segnalazioni simulate e la bozza di correzione da approv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5335" y="1783080"/>
            <a:ext cx="4526280" cy="3652157"/>
          </a:xfrm>
          <a:prstGeom prst="rect">
            <a:avLst/>
          </a:prstGeom>
        </p:spPr>
      </p:pic>
      <p:sp>
        <p:nvSpPr>
          <p:cNvPr id="25" name="bozza-didascalia"/>
          <p:cNvSpPr txBox="1"/>
          <p:nvPr/>
        </p:nvSpPr>
        <p:spPr>
          <a:xfrm>
            <a:off x="7025335" y="5544965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Scheda «Per il Comune» dell'app: segnalazioni SIMULATE, bozza registrata.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chemeClr val="accent3"/>
                </a:solidFill>
              </a:rPr>
              <a:t>PRIMO GIORNO · COSA SERVE AL COMUNE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68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Domani basta una riga nelle mail del Comune</a:t>
            </a:r>
            <a:endParaRPr lang="en-US" sz="3600" dirty="0"/>
          </a:p>
        </p:txBody>
      </p:sp>
      <p:sp>
        <p:nvSpPr>
          <p:cNvPr id="4" name="richiesta-0-cerchio"/>
          <p:cNvSpPr/>
          <p:nvPr/>
        </p:nvSpPr>
        <p:spPr>
          <a:xfrm>
            <a:off x="640080" y="2240280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richiesta-0-numero"/>
          <p:cNvSpPr txBox="1"/>
          <p:nvPr/>
        </p:nvSpPr>
        <p:spPr>
          <a:xfrm>
            <a:off x="64008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ichiesta-0-testo"/>
          <p:cNvSpPr txBox="1"/>
          <p:nvPr/>
        </p:nvSpPr>
        <p:spPr>
          <a:xfrm>
            <a:off x="1243584" y="225856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Una riga con un link nelle mail di conferma e di benvenuto e nella guida YesMilano</a:t>
            </a:r>
            <a:endParaRPr lang="en-US" sz="1700" dirty="0"/>
          </a:p>
        </p:txBody>
      </p:sp>
      <p:sp>
        <p:nvSpPr>
          <p:cNvPr id="7" name="richiesta-1-cerchio"/>
          <p:cNvSpPr/>
          <p:nvPr/>
        </p:nvSpPr>
        <p:spPr>
          <a:xfrm>
            <a:off x="640080" y="2971800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richiesta-1-numero"/>
          <p:cNvSpPr txBox="1"/>
          <p:nvPr/>
        </p:nvSpPr>
        <p:spPr>
          <a:xfrm>
            <a:off x="64008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richiesta-1-testo"/>
          <p:cNvSpPr txBox="1"/>
          <p:nvPr/>
        </p:nvSpPr>
        <p:spPr>
          <a:xfrm>
            <a:off x="1243584" y="299008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Le pagine che già pubblica, salvate e citate parola per parola</a:t>
            </a:r>
            <a:endParaRPr lang="en-US" sz="1700" dirty="0"/>
          </a:p>
        </p:txBody>
      </p:sp>
      <p:sp>
        <p:nvSpPr>
          <p:cNvPr id="10" name="richiesta-2-cerchio"/>
          <p:cNvSpPr/>
          <p:nvPr/>
        </p:nvSpPr>
        <p:spPr>
          <a:xfrm>
            <a:off x="640080" y="3703320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richiesta-2-numero"/>
          <p:cNvSpPr txBox="1"/>
          <p:nvPr/>
        </p:nvSpPr>
        <p:spPr>
          <a:xfrm>
            <a:off x="6400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richiesta-2-testo"/>
          <p:cNvSpPr txBox="1"/>
          <p:nvPr/>
        </p:nvSpPr>
        <p:spPr>
          <a:xfrm>
            <a:off x="1243584" y="372160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Un funzionario che verifica le citazioni, una volta per servizio</a:t>
            </a:r>
            <a:endParaRPr lang="en-US" sz="1700" dirty="0"/>
          </a:p>
        </p:txBody>
      </p:sp>
      <p:sp>
        <p:nvSpPr>
          <p:cNvPr id="13" name="garanzia"/>
          <p:cNvSpPr txBox="1"/>
          <p:nvPr/>
        </p:nvSpPr>
        <p:spPr>
          <a:xfrm>
            <a:off x="64008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Nessun accesso ai sistemi, nessun dato personale.</a:t>
            </a:r>
            <a:endParaRPr lang="en-US" sz="1800" dirty="0"/>
          </a:p>
        </p:txBody>
      </p:sp>
      <p:sp>
        <p:nvSpPr>
          <p:cNvPr id="14" name="firma"/>
          <p:cNvSpPr txBox="1"/>
          <p:nvPr/>
        </p:nvSpPr>
        <p:spPr>
          <a:xfrm>
            <a:off x="640080" y="5029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chemeClr val="bg1"/>
                </a:solidFill>
              </a:rPr>
              <a:t>La pratica chiusa al primo invio o al primo appuntamento.</a:t>
            </a:r>
            <a:endParaRPr lang="en-US" sz="3000" dirty="0"/>
          </a:p>
        </p:txBody>
      </p:sp>
      <p:sp>
        <p:nvSpPr>
          <p:cNvPr id="15" name="nota"/>
          <p:cNvSpPr txBox="1"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Prototipo non ufficiale: non è un servizio del Comune di Milano · gira su Claude</a:t>
            </a:r>
            <a:endParaRPr lang="en-US" sz="1200" dirty="0"/>
          </a:p>
        </p:txBody>
      </p:sp>
      <p:sp>
        <p:nvSpPr>
          <p:cNvPr id="16" name="team-cornice"/>
          <p:cNvSpPr/>
          <p:nvPr/>
        </p:nvSpPr>
        <p:spPr>
          <a:xfrm>
            <a:off x="7269480" y="868680"/>
            <a:ext cx="4327855" cy="24744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team-foto" descr="Il team OneVisit in videochiamata: due persone dall'Italia e tre dal resto del mo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4236415" cy="2382984"/>
          </a:xfrm>
          <a:prstGeom prst="rect">
            <a:avLst/>
          </a:prstGeom>
        </p:spPr>
      </p:pic>
      <p:sp>
        <p:nvSpPr>
          <p:cNvPr id="18" name="team-titolo"/>
          <p:cNvSpPr txBox="1"/>
          <p:nvPr/>
        </p:nvSpPr>
        <p:spPr>
          <a:xfrm>
            <a:off x="7315200" y="3498552"/>
            <a:ext cx="4236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Due italiani e tre arrivati dal mondo</a:t>
            </a:r>
            <a:endParaRPr lang="en-US" sz="1800" dirty="0"/>
          </a:p>
        </p:txBody>
      </p:sp>
      <p:sp>
        <p:nvSpPr>
          <p:cNvPr id="19" name="team-nomi"/>
          <p:cNvSpPr txBox="1"/>
          <p:nvPr/>
        </p:nvSpPr>
        <p:spPr>
          <a:xfrm>
            <a:off x="7315200" y="390088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Rosario Barbagallo · Leonardo Silvani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Mohammad Nouri Zadeh · Marcelo Kaihara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Eugène Wirtz</a:t>
            </a:r>
            <a:endParaRPr lang="en-US" sz="1400" dirty="0"/>
          </a:p>
        </p:txBody>
      </p:sp>
      <p:sp>
        <p:nvSpPr>
          <p:cNvPr id="20" name="link-app"/>
          <p:cNvSpPr txBox="1"/>
          <p:nvPr/>
        </p:nvSpPr>
        <p:spPr>
          <a:xfrm>
            <a:off x="7315200" y="5047488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onevisit.streamlit.app</a:t>
            </a:r>
            <a:endParaRPr lang="en-US" sz="2400" dirty="0"/>
          </a:p>
        </p:txBody>
      </p:sp>
      <p:sp>
        <p:nvSpPr>
          <p:cNvPr id="21" name="link-repo"/>
          <p:cNvSpPr txBox="1"/>
          <p:nvPr/>
        </p:nvSpPr>
        <p:spPr>
          <a:xfrm>
            <a:off x="7315200" y="55321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github.com/mohammad-nouri-zadeh/onevisit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eVisit PA">
  <a:themeElements>
    <a:clrScheme name="OneVisit PA">
      <a:dk1>
        <a:srgbClr val="1A1A1A"/>
      </a:dk1>
      <a:lt1>
        <a:srgbClr val="FFFFFF"/>
      </a:lt1>
      <a:dk2>
        <a:srgbClr val="2F475E"/>
      </a:dk2>
      <a:lt2>
        <a:srgbClr val="F5F5F5"/>
      </a:lt2>
      <a:accent1>
        <a:srgbClr val="A60D27"/>
      </a:accent1>
      <a:accent2>
        <a:srgbClr val="630817"/>
      </a:accent2>
      <a:accent3>
        <a:srgbClr val="F4E2E5"/>
      </a:accent3>
      <a:accent4>
        <a:srgbClr val="5C6F82"/>
      </a:accent4>
      <a:accent5>
        <a:srgbClr val="995C00"/>
      </a:accent5>
      <a:accent6>
        <a:srgbClr val="C5C7C9"/>
      </a:accent6>
      <a:hlink>
        <a:srgbClr val="A60D27"/>
      </a:hlink>
      <a:folHlink>
        <a:srgbClr val="630817"/>
      </a:folHlink>
    </a:clrScheme>
    <a:fontScheme name="OneVisit PA">
      <a:majorFont>
        <a:latin typeface="Titillium We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tillium We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OneVisit: pitch di 2 minuti (v2)</dc:title>
  <dc:subject>Claude Impact Lab Milano, Track 01</dc:subject>
  <dc:creator>Team OneVisit</dc:creator>
  <cp:lastModifiedBy>Team OneVisit</cp:lastModifiedBy>
  <cp:revision>1</cp:revision>
  <dcterms:created xsi:type="dcterms:W3CDTF">2026-10-04T10:54:05Z</dcterms:created>
  <dcterms:modified xsi:type="dcterms:W3CDTF">2026-10-04T10:54:05Z</dcterms:modified>
</cp:coreProperties>
</file>